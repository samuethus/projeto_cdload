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2" r:id="rId5"/>
    <p:sldId id="263" r:id="rId6"/>
    <p:sldId id="259" r:id="rId7"/>
    <p:sldId id="260" r:id="rId8"/>
    <p:sldId id="261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E1E26EBB-6AFE-F1D2-E417-618ACB767D1D}">
          <p14:sldIdLst>
            <p14:sldId id="256"/>
          </p14:sldIdLst>
        </p14:section>
        <p14:section name="Problema" id="{18AFAD96-6E1E-0704-801B-4967EE98BDC7}">
          <p14:sldIdLst>
            <p14:sldId id="257"/>
            <p14:sldId id="258"/>
            <p14:sldId id="262"/>
            <p14:sldId id="263"/>
          </p14:sldIdLst>
        </p14:section>
        <p14:section name="Solução" id="{475B3E10-4B53-E397-777B-524912E125C2}">
          <p14:sldIdLst>
            <p14:sldId id="259"/>
            <p14:sldId id="260"/>
          </p14:sldIdLst>
        </p14:section>
        <p14:section name="Impacto" id="{5542D5A5-06FA-B0CD-C669-5858C33F7A29}">
          <p14:sldIdLst>
            <p14:sldId id="261"/>
          </p14:sldIdLst>
        </p14:section>
        <p14:section name="Execução" id="{7E930BAE-A4F5-679B-3D39-F8EB249AEADA}">
          <p14:sldIdLst>
            <p14:sldId id="264"/>
          </p14:sldIdLst>
        </p14:section>
        <p14:section name="Decisão" id="{6CA98B7A-9C6A-5861-9898-B0A6D4E55E8E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Costa" userId="4d403cac-cd4b-4803-9876-75d8fc4094cf" providerId="ADAL" clId="{53D3D0DF-9404-4CC5-8C41-DC88853B8FB5}"/>
    <pc:docChg chg="undo custSel delSld modSld sldOrd modSection">
      <pc:chgData name="Matheus Costa" userId="4d403cac-cd4b-4803-9876-75d8fc4094cf" providerId="ADAL" clId="{53D3D0DF-9404-4CC5-8C41-DC88853B8FB5}" dt="2026-10-14T12:20:04.808" v="320" actId="20577"/>
      <pc:docMkLst>
        <pc:docMk/>
      </pc:docMkLst>
      <pc:sldChg chg="ord">
        <pc:chgData name="Matheus Costa" userId="4d403cac-cd4b-4803-9876-75d8fc4094cf" providerId="ADAL" clId="{53D3D0DF-9404-4CC5-8C41-DC88853B8FB5}" dt="2026-10-14T12:11:26.915" v="3"/>
        <pc:sldMkLst>
          <pc:docMk/>
          <pc:sldMk cId="0" sldId="258"/>
        </pc:sldMkLst>
      </pc:sldChg>
      <pc:sldChg chg="ord">
        <pc:chgData name="Matheus Costa" userId="4d403cac-cd4b-4803-9876-75d8fc4094cf" providerId="ADAL" clId="{53D3D0DF-9404-4CC5-8C41-DC88853B8FB5}" dt="2026-10-14T12:11:28.435" v="5"/>
        <pc:sldMkLst>
          <pc:docMk/>
          <pc:sldMk cId="0" sldId="262"/>
        </pc:sldMkLst>
      </pc:sldChg>
      <pc:sldChg chg="addSp delSp modSp mod ord">
        <pc:chgData name="Matheus Costa" userId="4d403cac-cd4b-4803-9876-75d8fc4094cf" providerId="ADAL" clId="{53D3D0DF-9404-4CC5-8C41-DC88853B8FB5}" dt="2026-10-14T12:20:04.808" v="320" actId="20577"/>
        <pc:sldMkLst>
          <pc:docMk/>
          <pc:sldMk cId="0" sldId="263"/>
        </pc:sldMkLst>
        <pc:spChg chg="mod">
          <ac:chgData name="Matheus Costa" userId="4d403cac-cd4b-4803-9876-75d8fc4094cf" providerId="ADAL" clId="{53D3D0DF-9404-4CC5-8C41-DC88853B8FB5}" dt="2026-10-14T12:20:04.808" v="320" actId="2057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Matheus Costa" userId="4d403cac-cd4b-4803-9876-75d8fc4094cf" providerId="ADAL" clId="{53D3D0DF-9404-4CC5-8C41-DC88853B8FB5}" dt="2026-10-14T12:18:33.026" v="256" actId="20577"/>
          <ac:spMkLst>
            <pc:docMk/>
            <pc:sldMk cId="0" sldId="263"/>
            <ac:spMk id="12" creationId="{00000000-0000-0000-0000-000000000000}"/>
          </ac:spMkLst>
        </pc:spChg>
        <pc:spChg chg="del">
          <ac:chgData name="Matheus Costa" userId="4d403cac-cd4b-4803-9876-75d8fc4094cf" providerId="ADAL" clId="{53D3D0DF-9404-4CC5-8C41-DC88853B8FB5}" dt="2026-10-14T12:17:21.560" v="234" actId="478"/>
          <ac:spMkLst>
            <pc:docMk/>
            <pc:sldMk cId="0" sldId="263"/>
            <ac:spMk id="15" creationId="{00000000-0000-0000-0000-000000000000}"/>
          </ac:spMkLst>
        </pc:spChg>
        <pc:spChg chg="del">
          <ac:chgData name="Matheus Costa" userId="4d403cac-cd4b-4803-9876-75d8fc4094cf" providerId="ADAL" clId="{53D3D0DF-9404-4CC5-8C41-DC88853B8FB5}" dt="2026-10-14T12:17:19.085" v="233" actId="478"/>
          <ac:spMkLst>
            <pc:docMk/>
            <pc:sldMk cId="0" sldId="263"/>
            <ac:spMk id="16" creationId="{00000000-0000-0000-0000-000000000000}"/>
          </ac:spMkLst>
        </pc:spChg>
        <pc:spChg chg="mod">
          <ac:chgData name="Matheus Costa" userId="4d403cac-cd4b-4803-9876-75d8fc4094cf" providerId="ADAL" clId="{53D3D0DF-9404-4CC5-8C41-DC88853B8FB5}" dt="2026-10-14T12:16:53.614" v="232" actId="20577"/>
          <ac:spMkLst>
            <pc:docMk/>
            <pc:sldMk cId="0" sldId="263"/>
            <ac:spMk id="17" creationId="{00000000-0000-0000-0000-000000000000}"/>
          </ac:spMkLst>
        </pc:spChg>
        <pc:spChg chg="mod">
          <ac:chgData name="Matheus Costa" userId="4d403cac-cd4b-4803-9876-75d8fc4094cf" providerId="ADAL" clId="{53D3D0DF-9404-4CC5-8C41-DC88853B8FB5}" dt="2026-10-14T12:18:39.541" v="265" actId="20577"/>
          <ac:spMkLst>
            <pc:docMk/>
            <pc:sldMk cId="0" sldId="263"/>
            <ac:spMk id="19" creationId="{00000000-0000-0000-0000-000000000000}"/>
          </ac:spMkLst>
        </pc:spChg>
        <pc:spChg chg="mod">
          <ac:chgData name="Matheus Costa" userId="4d403cac-cd4b-4803-9876-75d8fc4094cf" providerId="ADAL" clId="{53D3D0DF-9404-4CC5-8C41-DC88853B8FB5}" dt="2026-10-14T12:18:52.377" v="270" actId="6549"/>
          <ac:spMkLst>
            <pc:docMk/>
            <pc:sldMk cId="0" sldId="263"/>
            <ac:spMk id="24" creationId="{00000000-0000-0000-0000-000000000000}"/>
          </ac:spMkLst>
        </pc:spChg>
        <pc:spChg chg="mod">
          <ac:chgData name="Matheus Costa" userId="4d403cac-cd4b-4803-9876-75d8fc4094cf" providerId="ADAL" clId="{53D3D0DF-9404-4CC5-8C41-DC88853B8FB5}" dt="2026-10-14T12:14:57.012" v="120" actId="20577"/>
          <ac:spMkLst>
            <pc:docMk/>
            <pc:sldMk cId="0" sldId="263"/>
            <ac:spMk id="31" creationId="{00000000-0000-0000-0000-000000000000}"/>
          </ac:spMkLst>
        </pc:spChg>
        <pc:spChg chg="add del">
          <ac:chgData name="Matheus Costa" userId="4d403cac-cd4b-4803-9876-75d8fc4094cf" providerId="ADAL" clId="{53D3D0DF-9404-4CC5-8C41-DC88853B8FB5}" dt="2026-10-14T12:17:22.909" v="236" actId="22"/>
          <ac:spMkLst>
            <pc:docMk/>
            <pc:sldMk cId="0" sldId="263"/>
            <ac:spMk id="34" creationId="{A7A0DAA5-2B2F-96EA-DBCE-0970712341A4}"/>
          </ac:spMkLst>
        </pc:spChg>
        <pc:spChg chg="add mod">
          <ac:chgData name="Matheus Costa" userId="4d403cac-cd4b-4803-9876-75d8fc4094cf" providerId="ADAL" clId="{53D3D0DF-9404-4CC5-8C41-DC88853B8FB5}" dt="2026-10-14T12:17:29.050" v="238" actId="1076"/>
          <ac:spMkLst>
            <pc:docMk/>
            <pc:sldMk cId="0" sldId="263"/>
            <ac:spMk id="36" creationId="{4A660CD6-A274-6ABE-D8EB-01E0A85C66C8}"/>
          </ac:spMkLst>
        </pc:spChg>
        <pc:spChg chg="add mod">
          <ac:chgData name="Matheus Costa" userId="4d403cac-cd4b-4803-9876-75d8fc4094cf" providerId="ADAL" clId="{53D3D0DF-9404-4CC5-8C41-DC88853B8FB5}" dt="2026-10-14T12:17:29.050" v="238" actId="1076"/>
          <ac:spMkLst>
            <pc:docMk/>
            <pc:sldMk cId="0" sldId="263"/>
            <ac:spMk id="38" creationId="{6B2A0DC4-8E60-99F7-5E41-01FB04EB09EA}"/>
          </ac:spMkLst>
        </pc:spChg>
      </pc:sldChg>
      <pc:sldChg chg="del ord">
        <pc:chgData name="Matheus Costa" userId="4d403cac-cd4b-4803-9876-75d8fc4094cf" providerId="ADAL" clId="{53D3D0DF-9404-4CC5-8C41-DC88853B8FB5}" dt="2026-10-14T12:15:04.560" v="121" actId="47"/>
        <pc:sldMkLst>
          <pc:docMk/>
          <pc:sldMk cId="0" sldId="265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447"/>
                </a:solidFill>
                <a:latin typeface="+mj-lt"/>
              </a:defRPr>
            </a:pPr>
            <a:r>
              <a:rPr lang="pt-BR" sz="1300" b="0" i="0" u="none" strike="noStrike">
                <a:solidFill>
                  <a:srgbClr val="0B2447"/>
                </a:solidFill>
                <a:latin typeface="+mj-lt"/>
              </a:rPr>
              <a:t>Horas salvas por mês, por módulo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Horas salvas por mês</c:v>
                </c:pt>
              </c:strCache>
            </c:strRef>
          </c:tx>
          <c:spPr>
            <a:solidFill>
              <a:srgbClr val="1D5FD3"/>
            </a:solidFill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F1E3D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Relatórios</c:v>
                </c:pt>
                <c:pt idx="1">
                  <c:v>Clipping</c:v>
                </c:pt>
                <c:pt idx="2">
                  <c:v>Dashboard</c:v>
                </c:pt>
                <c:pt idx="3">
                  <c:v>Home</c:v>
                </c:pt>
                <c:pt idx="4">
                  <c:v>Usuários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</c:v>
                </c:pt>
                <c:pt idx="1">
                  <c:v>11</c:v>
                </c:pt>
                <c:pt idx="2">
                  <c:v>5</c:v>
                </c:pt>
                <c:pt idx="3">
                  <c:v>4.4000000000000004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BE-4F24-9C3E-4C380F808D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E3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447"/>
                </a:solidFill>
                <a:latin typeface="+mj-lt"/>
              </a:defRPr>
            </a:pPr>
            <a:r>
              <a:rPr lang="pt-BR" sz="1300" b="0" i="0" u="none" strike="noStrike">
                <a:solidFill>
                  <a:srgbClr val="0B2447"/>
                </a:solidFill>
                <a:latin typeface="+mj-lt"/>
              </a:rPr>
              <a:t>Captação × custo (R$/ano)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Captação anual (planos)</c:v>
                </c:pt>
              </c:strCache>
            </c:strRef>
          </c:tx>
          <c:spPr>
            <a:solidFill>
              <a:srgbClr val="5DB14E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plano</c:v>
                </c:pt>
                <c:pt idx="1">
                  <c:v>2 planos</c:v>
                </c:pt>
                <c:pt idx="2">
                  <c:v>3 planos</c:v>
                </c:pt>
                <c:pt idx="3">
                  <c:v>4 planos</c:v>
                </c:pt>
                <c:pt idx="4">
                  <c:v>5 planos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1440</c:v>
                </c:pt>
                <c:pt idx="1">
                  <c:v>2880</c:v>
                </c:pt>
                <c:pt idx="2">
                  <c:v>4320</c:v>
                </c:pt>
                <c:pt idx="3">
                  <c:v>5760</c:v>
                </c:pt>
                <c:pt idx="4">
                  <c:v>7200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C8-4409-9EE3-D6DD208A60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 anual das ferramentas</c:v>
                </c:pt>
              </c:strCache>
            </c:strRef>
          </c:tx>
          <c:spPr>
            <a:solidFill>
              <a:srgbClr val="A7C7F4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plano</c:v>
                </c:pt>
                <c:pt idx="1">
                  <c:v>2 planos</c:v>
                </c:pt>
                <c:pt idx="2">
                  <c:v>3 planos</c:v>
                </c:pt>
                <c:pt idx="3">
                  <c:v>4 planos</c:v>
                </c:pt>
                <c:pt idx="4">
                  <c:v>5 planos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4370</c:v>
                </c:pt>
                <c:pt idx="1">
                  <c:v>4370</c:v>
                </c:pt>
                <c:pt idx="2">
                  <c:v>4370</c:v>
                </c:pt>
                <c:pt idx="3">
                  <c:v>4370</c:v>
                </c:pt>
                <c:pt idx="4">
                  <c:v>4370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C8-4409-9EE3-D6DD208A60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F1E3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0F1E3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0789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(1 min). A proposta: adotar o CDLoad como a plataforma oficial de dados do Núcleo de Inteligência. Três números resumem o que ele já entrega: 10 módulos em um só lugar, 9 fontes de dados que se atualizam sozinhas todos os dias e cerca de 65 horas por mês devolvidas à equipe.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Cenário atual (2 min). Quatro dores: dados espalhados em ferramentas que não conversam; coleta manual e repetitiva (CAGED, clipping de notícias, relatórios); custo de licença que cresce a cada usuário; e falta de controle de acesso centralizado. O efeito somado é de cerca de 65 horas por mês gastas em tarefas que podem ser automatizadas (fonte: planilha de viabilidade do Núcleo, out/2026).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solução (2 min). O CDLoad junta tudo em um só lugar: as fontes (Receita Federal, CAGED, IBGE, Sefaz, Survey Monkey e notícias) entram automaticamente no banco de dados; a equipe e a diretoria consomem o resultado em painéis, no mapa de empresas, em relatórios PDF prontos e em exportações. Não exige instalação: abre no navegador, com login.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Impacto qualitativo (2 min). Cultura: todos olham para o mesmo número, atualizado. Segurança: login individual, permissão por seção e regras de acesso por linha (RLS) no banco; dados pessoais dos formulários ficam protegidos (LGPD). Escala: incluir um usuário ou um indicador não multiplica o custo — e a plataforma pode ser oferecida às CDLs parceiras como consultoria.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(2 min). Fase 1 já entregue (outubro/2026). Fase 2 em andamento até dezembro: tempo real do Survey, mapa por CEP e organização técnica (testes, divisão do código). Fases 3 e 4 são proposta para 2027 — datas e escopo editáveis conforme a decisão da diretoria.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Módulos (2 min). Azul: análise de mercado (Dashboard, Mapa, Clipping). Verde: rotinas operacionais (Relatórios, Survey Monkey, Estoque). Cinza: governança (Usuários e acesso, visualização do banco). Laranja: em construção (WhatsApp e Campanhas). Todos usam o mesmo login e as mesmas permissões.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Fluxo (2 min). Quatro etapas sem intervenção manual: coleta automática, consolidação no banco, análise nos painéis e entrega. O contraste antes × depois usa os tempos da planilha de viabilidade: relatório diário (~2 h), CAGED mensal (~5 h) e pesquisa de notícias.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Impacto quantitativo (2 min). Fonte: planilha de viabilidade do Núcleo (out/2026), 22 dias úteis/mês. Horas salvas = frequência × horas por ocorrência. Relatórios é o maior ganho (44 h/mês). Custo anual das ferramentas: R$ 4.370 (Power BI 1 licença R$ 1.310; Claude R$ 1.320; Survey Monkey R$ 1.200; Canva R$ 420; GisMaps R$ 120). Custo por hora devolvida = R$ 4.370 ÷ 785 h = R$ 5,57. Ajuste os números aqui se a planilha mudar.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Viabilidade (2 min). Custo anual das ferramentas: R$ 4.370 com 1 licença de Power BI (com 7 licenças, sobe para cerca de R$ 12.230). Captação por plano de consultoria: R$ 120/mês = R$ 1.440/ano. Ponto de equilíbrio: 4 planos (R$ 5.760/ano). Confirmar custos de hospedagem/banco (Supabase, GitHub) antes de apresentar.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96012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</a:rPr>
              <a:t>Título da apresentação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468880"/>
            <a:ext cx="69494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</a:rPr>
              <a:t>Proposta de valor</a:t>
            </a: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Núcleo de Inteligência · CDL Cuiabá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Título do slide</a:t>
            </a:r>
            <a:endParaRPr lang="en-US" sz="22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6"/>
                </a:solidFill>
              </a:rPr>
              <a:t>CDLoad · Núcleo de Inteligência · Uso interno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Próximos passos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3"/>
                </a:solidFill>
              </a:rPr>
              <a:t>CDLoad · Núcleo de Inteligência · Uso interno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9601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CDLoad: toda a inteligência da CDL em uma única plataforma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4688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</a:rPr>
              <a:t>Dados de mercado atualizados todo dia, relatórios automáticos e acesso controlado — menos tempo coletando, mais tempo decidindo.</a:t>
            </a:r>
            <a:endParaRPr lang="en-US" sz="1600" dirty="0"/>
          </a:p>
        </p:txBody>
      </p:sp>
      <p:sp>
        <p:nvSpPr>
          <p:cNvPr id="4" name="Destaque 1 (fundo)"/>
          <p:cNvSpPr/>
          <p:nvPr/>
        </p:nvSpPr>
        <p:spPr>
          <a:xfrm>
            <a:off x="548640" y="3611880"/>
            <a:ext cx="2468880" cy="914400"/>
          </a:xfrm>
          <a:prstGeom prst="roundRect">
            <a:avLst>
              <a:gd name="adj" fmla="val 100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Destaque 1 (número)"/>
          <p:cNvSpPr txBox="1"/>
          <p:nvPr/>
        </p:nvSpPr>
        <p:spPr>
          <a:xfrm>
            <a:off x="731520" y="36758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600" dirty="0"/>
          </a:p>
        </p:txBody>
      </p:sp>
      <p:sp>
        <p:nvSpPr>
          <p:cNvPr id="6" name="Destaque 1 (rótulo)"/>
          <p:cNvSpPr txBox="1"/>
          <p:nvPr/>
        </p:nvSpPr>
        <p:spPr>
          <a:xfrm>
            <a:off x="731520" y="41330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módulos integrados</a:t>
            </a:r>
            <a:endParaRPr lang="en-US" sz="1200" dirty="0"/>
          </a:p>
        </p:txBody>
      </p:sp>
      <p:sp>
        <p:nvSpPr>
          <p:cNvPr id="7" name="Destaque 2 (fundo)"/>
          <p:cNvSpPr/>
          <p:nvPr/>
        </p:nvSpPr>
        <p:spPr>
          <a:xfrm>
            <a:off x="3246120" y="3611880"/>
            <a:ext cx="2468880" cy="914400"/>
          </a:xfrm>
          <a:prstGeom prst="roundRect">
            <a:avLst>
              <a:gd name="adj" fmla="val 100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Destaque 2 (número)"/>
          <p:cNvSpPr txBox="1"/>
          <p:nvPr/>
        </p:nvSpPr>
        <p:spPr>
          <a:xfrm>
            <a:off x="3429000" y="36758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600" dirty="0"/>
          </a:p>
        </p:txBody>
      </p:sp>
      <p:sp>
        <p:nvSpPr>
          <p:cNvPr id="9" name="Destaque 2 (rótulo)"/>
          <p:cNvSpPr txBox="1"/>
          <p:nvPr/>
        </p:nvSpPr>
        <p:spPr>
          <a:xfrm>
            <a:off x="3429000" y="41330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fontes de dados atualizadas todo dia</a:t>
            </a:r>
            <a:endParaRPr lang="en-US" sz="1200" dirty="0"/>
          </a:p>
        </p:txBody>
      </p:sp>
      <p:sp>
        <p:nvSpPr>
          <p:cNvPr id="10" name="Destaque 3 (fundo)"/>
          <p:cNvSpPr/>
          <p:nvPr/>
        </p:nvSpPr>
        <p:spPr>
          <a:xfrm>
            <a:off x="5943600" y="3611880"/>
            <a:ext cx="2468880" cy="914400"/>
          </a:xfrm>
          <a:prstGeom prst="roundRect">
            <a:avLst>
              <a:gd name="adj" fmla="val 100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Destaque 3 (número)"/>
          <p:cNvSpPr txBox="1"/>
          <p:nvPr/>
        </p:nvSpPr>
        <p:spPr>
          <a:xfrm>
            <a:off x="6126480" y="36758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 h</a:t>
            </a:r>
            <a:endParaRPr lang="en-US" sz="2600" dirty="0"/>
          </a:p>
        </p:txBody>
      </p:sp>
      <p:sp>
        <p:nvSpPr>
          <p:cNvPr id="12" name="Destaque 3 (rótulo)"/>
          <p:cNvSpPr txBox="1"/>
          <p:nvPr/>
        </p:nvSpPr>
        <p:spPr>
          <a:xfrm>
            <a:off x="6126480" y="41330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devolvidas à equipe por mês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</a:rPr>
              <a:t>O cenário atual: dados espalhados e trabalho manual</a:t>
            </a:r>
            <a:endParaRPr lang="en-US" sz="2200" dirty="0"/>
          </a:p>
        </p:txBody>
      </p:sp>
      <p:sp>
        <p:nvSpPr>
          <p:cNvPr id="3" name="Dor 01 (cartão)"/>
          <p:cNvSpPr/>
          <p:nvPr/>
        </p:nvSpPr>
        <p:spPr>
          <a:xfrm>
            <a:off x="457200" y="109728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F1E3D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Dor 01 (círculo)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Dor 01 (rótulo)"/>
          <p:cNvSpPr txBox="1"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Dor 01 (título)"/>
          <p:cNvSpPr txBox="1"/>
          <p:nvPr/>
        </p:nvSpPr>
        <p:spPr>
          <a:xfrm>
            <a:off x="1234440" y="12984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Dados dispersos</a:t>
            </a:r>
            <a:endParaRPr lang="en-US" sz="1400" dirty="0"/>
          </a:p>
        </p:txBody>
      </p:sp>
      <p:sp>
        <p:nvSpPr>
          <p:cNvPr id="7" name="Dor 01 (descrição)"/>
          <p:cNvSpPr txBox="1"/>
          <p:nvPr/>
        </p:nvSpPr>
        <p:spPr>
          <a:xfrm>
            <a:off x="640080" y="1874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Power BI, Survey Monkey, GisMaps, Canva e planilhas: cada análise exige juntar peças de vários lugares.</a:t>
            </a:r>
            <a:endParaRPr lang="en-US" sz="1100" dirty="0"/>
          </a:p>
        </p:txBody>
      </p:sp>
      <p:sp>
        <p:nvSpPr>
          <p:cNvPr id="8" name="Dor 02 (cartão)"/>
          <p:cNvSpPr/>
          <p:nvPr/>
        </p:nvSpPr>
        <p:spPr>
          <a:xfrm>
            <a:off x="3246120" y="109728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F1E3D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Dor 02 (círculo)"/>
          <p:cNvSpPr/>
          <p:nvPr/>
        </p:nvSpPr>
        <p:spPr>
          <a:xfrm>
            <a:off x="3429000" y="128016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Dor 02 (rótulo)"/>
          <p:cNvSpPr txBox="1"/>
          <p:nvPr/>
        </p:nvSpPr>
        <p:spPr>
          <a:xfrm>
            <a:off x="34290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Dor 02 (título)"/>
          <p:cNvSpPr txBox="1"/>
          <p:nvPr/>
        </p:nvSpPr>
        <p:spPr>
          <a:xfrm>
            <a:off x="4023360" y="12984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Coleta manual e repetitiva</a:t>
            </a:r>
            <a:endParaRPr lang="en-US" sz="1400" dirty="0"/>
          </a:p>
        </p:txBody>
      </p:sp>
      <p:sp>
        <p:nvSpPr>
          <p:cNvPr id="12" name="Dor 02 (descrição)"/>
          <p:cNvSpPr txBox="1"/>
          <p:nvPr/>
        </p:nvSpPr>
        <p:spPr>
          <a:xfrm>
            <a:off x="3429000" y="1874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CAGED, notícias e relatórios montados à mão todo mês — e refeitos a cada pedido.</a:t>
            </a:r>
            <a:endParaRPr lang="en-US" sz="1100" dirty="0"/>
          </a:p>
        </p:txBody>
      </p:sp>
      <p:sp>
        <p:nvSpPr>
          <p:cNvPr id="13" name="Dor 03 (cartão)"/>
          <p:cNvSpPr/>
          <p:nvPr/>
        </p:nvSpPr>
        <p:spPr>
          <a:xfrm>
            <a:off x="457200" y="288036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F1E3D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Dor 03 (círculo)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Dor 03 (rótulo)"/>
          <p:cNvSpPr txBox="1"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Dor 03 (título)"/>
          <p:cNvSpPr txBox="1"/>
          <p:nvPr/>
        </p:nvSpPr>
        <p:spPr>
          <a:xfrm>
            <a:off x="1234440" y="30815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Custo que cresce por usuário</a:t>
            </a:r>
            <a:endParaRPr lang="en-US" sz="1400" dirty="0"/>
          </a:p>
        </p:txBody>
      </p:sp>
      <p:sp>
        <p:nvSpPr>
          <p:cNvPr id="17" name="Dor 03 (descrição)"/>
          <p:cNvSpPr txBox="1"/>
          <p:nvPr/>
        </p:nvSpPr>
        <p:spPr>
          <a:xfrm>
            <a:off x="64008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Licenças por pessoa (Power BI) encarecem cada novo analista ou associado com acesso.</a:t>
            </a:r>
            <a:endParaRPr lang="en-US" sz="1100" dirty="0"/>
          </a:p>
        </p:txBody>
      </p:sp>
      <p:sp>
        <p:nvSpPr>
          <p:cNvPr id="18" name="Dor 04 (cartão)"/>
          <p:cNvSpPr/>
          <p:nvPr/>
        </p:nvSpPr>
        <p:spPr>
          <a:xfrm>
            <a:off x="3246120" y="288036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F1E3D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Dor 04 (círculo)"/>
          <p:cNvSpPr/>
          <p:nvPr/>
        </p:nvSpPr>
        <p:spPr>
          <a:xfrm>
            <a:off x="3429000" y="306324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Dor 04 (rótulo)"/>
          <p:cNvSpPr txBox="1"/>
          <p:nvPr/>
        </p:nvSpPr>
        <p:spPr>
          <a:xfrm>
            <a:off x="34290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Dor 04 (título)"/>
          <p:cNvSpPr txBox="1"/>
          <p:nvPr/>
        </p:nvSpPr>
        <p:spPr>
          <a:xfrm>
            <a:off x="4023360" y="30815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Pouco controle de acesso</a:t>
            </a:r>
            <a:endParaRPr lang="en-US" sz="1400" dirty="0"/>
          </a:p>
        </p:txBody>
      </p:sp>
      <p:sp>
        <p:nvSpPr>
          <p:cNvPr id="22" name="Dor 04 (descrição)"/>
          <p:cNvSpPr txBox="1"/>
          <p:nvPr/>
        </p:nvSpPr>
        <p:spPr>
          <a:xfrm>
            <a:off x="342900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Sem um ponto único de login e permissão por área, o compartilhamento depende de envio de arquivos.</a:t>
            </a:r>
            <a:endParaRPr lang="en-US" sz="1100" dirty="0"/>
          </a:p>
        </p:txBody>
      </p:sp>
      <p:sp>
        <p:nvSpPr>
          <p:cNvPr id="23" name="Custo da ineficiência (cartão)"/>
          <p:cNvSpPr/>
          <p:nvPr/>
        </p:nvSpPr>
        <p:spPr>
          <a:xfrm>
            <a:off x="6172200" y="1097280"/>
            <a:ext cx="2514600" cy="338328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/>
          <a:effectLst>
            <a:outerShdw blurRad="76200" dist="25400" dir="5400000" algn="bl" rotWithShape="0">
              <a:srgbClr val="0F1E3D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Custo (rótulo)"/>
          <p:cNvSpPr txBox="1"/>
          <p:nvPr/>
        </p:nvSpPr>
        <p:spPr>
          <a:xfrm>
            <a:off x="6355080" y="1280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Custo da ineficiência</a:t>
            </a:r>
            <a:endParaRPr lang="en-US" sz="1200" dirty="0"/>
          </a:p>
        </p:txBody>
      </p:sp>
      <p:sp>
        <p:nvSpPr>
          <p:cNvPr id="25" name="Custo (horas)"/>
          <p:cNvSpPr txBox="1"/>
          <p:nvPr/>
        </p:nvSpPr>
        <p:spPr>
          <a:xfrm>
            <a:off x="6355080" y="1600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65 h</a:t>
            </a:r>
            <a:endParaRPr lang="en-US" sz="4000" dirty="0"/>
          </a:p>
        </p:txBody>
      </p:sp>
      <p:sp>
        <p:nvSpPr>
          <p:cNvPr id="26" name="Custo (horas, legenda)"/>
          <p:cNvSpPr txBox="1"/>
          <p:nvPr/>
        </p:nvSpPr>
        <p:spPr>
          <a:xfrm>
            <a:off x="6355080" y="2240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por mês em tarefas manuais que a plataforma automatiza</a:t>
            </a:r>
            <a:endParaRPr lang="en-US" sz="1200" dirty="0"/>
          </a:p>
        </p:txBody>
      </p:sp>
      <p:sp>
        <p:nvSpPr>
          <p:cNvPr id="27" name="Custo (ferramentas)"/>
          <p:cNvSpPr txBox="1"/>
          <p:nvPr/>
        </p:nvSpPr>
        <p:spPr>
          <a:xfrm>
            <a:off x="635508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000" dirty="0"/>
          </a:p>
        </p:txBody>
      </p:sp>
      <p:sp>
        <p:nvSpPr>
          <p:cNvPr id="28" name="Custo (ferramentas, legenda)"/>
          <p:cNvSpPr txBox="1"/>
          <p:nvPr/>
        </p:nvSpPr>
        <p:spPr>
          <a:xfrm>
            <a:off x="6355080" y="3566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ferramentas pagas separadamente, sem integração</a:t>
            </a:r>
            <a:endParaRPr lang="en-US" sz="1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</a:rPr>
              <a:t>A solução: CDLoad, a plataforma interna de dados</a:t>
            </a:r>
            <a:endParaRPr lang="en-US" sz="2200" dirty="0"/>
          </a:p>
        </p:txBody>
      </p:sp>
      <p:sp>
        <p:nvSpPr>
          <p:cNvPr id="3" name="Solução (texto)"/>
          <p:cNvSpPr txBox="1"/>
          <p:nvPr/>
        </p:nvSpPr>
        <p:spPr>
          <a:xfrm>
            <a:off x="457200" y="1097280"/>
            <a:ext cx="3566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Uma única plataforma web, acessada pelo navegador, que coleta, organiza e apresenta os dados de mercado da CDL.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Atualização automática diária das fontes públicas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Painéis, mapa e relatórios prontos para a diretoria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Login único e permissões por seção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Sem instalação: funciona em qualquer computador</a:t>
            </a:r>
            <a:endParaRPr lang="en-US" sz="1400" dirty="0"/>
          </a:p>
        </p:txBody>
      </p:sp>
      <p:sp>
        <p:nvSpPr>
          <p:cNvPr id="4" name="Fonte 1 (caixa)"/>
          <p:cNvSpPr/>
          <p:nvPr/>
        </p:nvSpPr>
        <p:spPr>
          <a:xfrm>
            <a:off x="4343400" y="1143000"/>
            <a:ext cx="141732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Fonte 1 (texto)"/>
          <p:cNvSpPr txBox="1"/>
          <p:nvPr/>
        </p:nvSpPr>
        <p:spPr>
          <a:xfrm>
            <a:off x="4389120" y="11430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Receita Federal (CNPJ)</a:t>
            </a:r>
            <a:endParaRPr lang="en-US" sz="1000" dirty="0"/>
          </a:p>
        </p:txBody>
      </p:sp>
      <p:sp>
        <p:nvSpPr>
          <p:cNvPr id="6" name="Fonte 2 (caixa)"/>
          <p:cNvSpPr/>
          <p:nvPr/>
        </p:nvSpPr>
        <p:spPr>
          <a:xfrm>
            <a:off x="4343400" y="1965960"/>
            <a:ext cx="141732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Fonte 2 (texto)"/>
          <p:cNvSpPr txBox="1"/>
          <p:nvPr/>
        </p:nvSpPr>
        <p:spPr>
          <a:xfrm>
            <a:off x="4389120" y="196596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CAGED · IBGE · Sefaz</a:t>
            </a:r>
            <a:endParaRPr lang="en-US" sz="1000" dirty="0"/>
          </a:p>
        </p:txBody>
      </p:sp>
      <p:sp>
        <p:nvSpPr>
          <p:cNvPr id="8" name="Fonte 3 (caixa)"/>
          <p:cNvSpPr/>
          <p:nvPr/>
        </p:nvSpPr>
        <p:spPr>
          <a:xfrm>
            <a:off x="4343400" y="2788920"/>
            <a:ext cx="141732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Fonte 3 (texto)"/>
          <p:cNvSpPr txBox="1"/>
          <p:nvPr/>
        </p:nvSpPr>
        <p:spPr>
          <a:xfrm>
            <a:off x="4389120" y="278892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Survey Monkey</a:t>
            </a:r>
            <a:endParaRPr lang="en-US" sz="1000" dirty="0"/>
          </a:p>
        </p:txBody>
      </p:sp>
      <p:sp>
        <p:nvSpPr>
          <p:cNvPr id="10" name="Fonte 4 (caixa)"/>
          <p:cNvSpPr/>
          <p:nvPr/>
        </p:nvSpPr>
        <p:spPr>
          <a:xfrm>
            <a:off x="4343400" y="3611880"/>
            <a:ext cx="141732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Fonte 4 (texto)"/>
          <p:cNvSpPr txBox="1"/>
          <p:nvPr/>
        </p:nvSpPr>
        <p:spPr>
          <a:xfrm>
            <a:off x="4389120" y="36118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Notícias (Clipping)</a:t>
            </a:r>
            <a:endParaRPr lang="en-US" sz="1000" dirty="0"/>
          </a:p>
        </p:txBody>
      </p:sp>
      <p:sp>
        <p:nvSpPr>
          <p:cNvPr id="12" name="CDLoad (caixa)"/>
          <p:cNvSpPr/>
          <p:nvPr/>
        </p:nvSpPr>
        <p:spPr>
          <a:xfrm>
            <a:off x="5989320" y="1874520"/>
            <a:ext cx="1051560" cy="1417320"/>
          </a:xfrm>
          <a:prstGeom prst="roundRect">
            <a:avLst>
              <a:gd name="adj" fmla="val 10435"/>
            </a:avLst>
          </a:prstGeom>
          <a:solidFill>
            <a:schemeClr val="accent1"/>
          </a:solidFill>
          <a:ln/>
          <a:effectLst>
            <a:outerShdw blurRad="76200" dist="25400" dir="5400000" algn="bl" rotWithShape="0">
              <a:srgbClr val="0F1E3D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CDLoad (texto)"/>
          <p:cNvSpPr txBox="1"/>
          <p:nvPr/>
        </p:nvSpPr>
        <p:spPr>
          <a:xfrm>
            <a:off x="5989320" y="1874520"/>
            <a:ext cx="1051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CDLoad</a:t>
            </a:r>
            <a:endParaRPr lang="en-US" sz="15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banco + painéis</a:t>
            </a:r>
            <a:endParaRPr lang="en-US" sz="1500" dirty="0"/>
          </a:p>
        </p:txBody>
      </p:sp>
      <p:sp>
        <p:nvSpPr>
          <p:cNvPr id="14" name="Entrega 1 (caixa)"/>
          <p:cNvSpPr/>
          <p:nvPr/>
        </p:nvSpPr>
        <p:spPr>
          <a:xfrm>
            <a:off x="7269480" y="1143000"/>
            <a:ext cx="1417320" cy="594360"/>
          </a:xfrm>
          <a:prstGeom prst="roundRect">
            <a:avLst>
              <a:gd name="adj" fmla="val 12308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Entrega 1 (texto)"/>
          <p:cNvSpPr txBox="1"/>
          <p:nvPr/>
        </p:nvSpPr>
        <p:spPr>
          <a:xfrm>
            <a:off x="7315200" y="11430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Dashboards</a:t>
            </a:r>
            <a:endParaRPr lang="en-US" sz="1000" dirty="0"/>
          </a:p>
        </p:txBody>
      </p:sp>
      <p:sp>
        <p:nvSpPr>
          <p:cNvPr id="16" name="Entrega 2 (caixa)"/>
          <p:cNvSpPr/>
          <p:nvPr/>
        </p:nvSpPr>
        <p:spPr>
          <a:xfrm>
            <a:off x="7269480" y="1965960"/>
            <a:ext cx="1417320" cy="594360"/>
          </a:xfrm>
          <a:prstGeom prst="roundRect">
            <a:avLst>
              <a:gd name="adj" fmla="val 12308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Entrega 2 (texto)"/>
          <p:cNvSpPr txBox="1"/>
          <p:nvPr/>
        </p:nvSpPr>
        <p:spPr>
          <a:xfrm>
            <a:off x="7315200" y="196596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Mapa de empresas</a:t>
            </a:r>
            <a:endParaRPr lang="en-US" sz="1000" dirty="0"/>
          </a:p>
        </p:txBody>
      </p:sp>
      <p:sp>
        <p:nvSpPr>
          <p:cNvPr id="18" name="Entrega 3 (caixa)"/>
          <p:cNvSpPr/>
          <p:nvPr/>
        </p:nvSpPr>
        <p:spPr>
          <a:xfrm>
            <a:off x="7269480" y="2788920"/>
            <a:ext cx="1417320" cy="594360"/>
          </a:xfrm>
          <a:prstGeom prst="roundRect">
            <a:avLst>
              <a:gd name="adj" fmla="val 12308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Entrega 3 (texto)"/>
          <p:cNvSpPr txBox="1"/>
          <p:nvPr/>
        </p:nvSpPr>
        <p:spPr>
          <a:xfrm>
            <a:off x="7315200" y="278892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Relatórios em PDF</a:t>
            </a:r>
            <a:endParaRPr lang="en-US" sz="1000" dirty="0"/>
          </a:p>
        </p:txBody>
      </p:sp>
      <p:sp>
        <p:nvSpPr>
          <p:cNvPr id="20" name="Entrega 4 (caixa)"/>
          <p:cNvSpPr/>
          <p:nvPr/>
        </p:nvSpPr>
        <p:spPr>
          <a:xfrm>
            <a:off x="7269480" y="3611880"/>
            <a:ext cx="1417320" cy="594360"/>
          </a:xfrm>
          <a:prstGeom prst="roundRect">
            <a:avLst>
              <a:gd name="adj" fmla="val 12308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Entrega 4 (texto)"/>
          <p:cNvSpPr txBox="1"/>
          <p:nvPr/>
        </p:nvSpPr>
        <p:spPr>
          <a:xfrm>
            <a:off x="7315200" y="36118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Exportação de dados</a:t>
            </a:r>
            <a:endParaRPr lang="en-US" sz="1000" dirty="0"/>
          </a:p>
        </p:txBody>
      </p:sp>
      <p:sp>
        <p:nvSpPr>
          <p:cNvPr id="22" name="Seta entrada"/>
          <p:cNvSpPr/>
          <p:nvPr/>
        </p:nvSpPr>
        <p:spPr>
          <a:xfrm>
            <a:off x="5779008" y="2423160"/>
            <a:ext cx="192024" cy="320040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eta saída"/>
          <p:cNvSpPr/>
          <p:nvPr/>
        </p:nvSpPr>
        <p:spPr>
          <a:xfrm>
            <a:off x="7059168" y="2423160"/>
            <a:ext cx="192024" cy="320040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</a:rPr>
              <a:t>Impacto qualitativo: cultura, segurança e escala</a:t>
            </a:r>
            <a:endParaRPr lang="en-US" sz="2200" dirty="0"/>
          </a:p>
        </p:txBody>
      </p:sp>
      <p:sp>
        <p:nvSpPr>
          <p:cNvPr id="3" name="Cultura (cartão)"/>
          <p:cNvSpPr/>
          <p:nvPr/>
        </p:nvSpPr>
        <p:spPr>
          <a:xfrm>
            <a:off x="457200" y="1097280"/>
            <a:ext cx="2606040" cy="34290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F1E3D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Cultura (círculo)"/>
          <p:cNvSpPr/>
          <p:nvPr/>
        </p:nvSpPr>
        <p:spPr>
          <a:xfrm>
            <a:off x="685800" y="1280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Cultura (rótulo)"/>
          <p:cNvSpPr txBox="1"/>
          <p:nvPr/>
        </p:nvSpPr>
        <p:spPr>
          <a:xfrm>
            <a:off x="6858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6" name="Cultura (título)"/>
          <p:cNvSpPr txBox="1"/>
          <p:nvPr/>
        </p:nvSpPr>
        <p:spPr>
          <a:xfrm>
            <a:off x="685800" y="1938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Cultura</a:t>
            </a:r>
            <a:endParaRPr lang="en-US" sz="1800" dirty="0"/>
          </a:p>
        </p:txBody>
      </p:sp>
      <p:sp>
        <p:nvSpPr>
          <p:cNvPr id="7" name="Cultura (subtítulo)"/>
          <p:cNvSpPr txBox="1"/>
          <p:nvPr/>
        </p:nvSpPr>
        <p:spPr>
          <a:xfrm>
            <a:off x="685800" y="23042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Decisão baseada em dados</a:t>
            </a:r>
            <a:endParaRPr lang="en-US" sz="1200" dirty="0"/>
          </a:p>
        </p:txBody>
      </p:sp>
      <p:sp>
        <p:nvSpPr>
          <p:cNvPr id="8" name="Cultura (lista)"/>
          <p:cNvSpPr txBox="1"/>
          <p:nvPr/>
        </p:nvSpPr>
        <p:spPr>
          <a:xfrm>
            <a:off x="685800" y="26974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Diretoria consulta os números direto, sem esperar planilha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Mesma fonte para todos: fim das versões conflitantes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Equipe foca em análise, não em coleta</a:t>
            </a:r>
            <a:endParaRPr lang="en-US" sz="1150" dirty="0"/>
          </a:p>
        </p:txBody>
      </p:sp>
      <p:sp>
        <p:nvSpPr>
          <p:cNvPr id="9" name="Segurança (cartão)"/>
          <p:cNvSpPr/>
          <p:nvPr/>
        </p:nvSpPr>
        <p:spPr>
          <a:xfrm>
            <a:off x="3246120" y="1097280"/>
            <a:ext cx="2606040" cy="34290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F1E3D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egurança (círculo)"/>
          <p:cNvSpPr/>
          <p:nvPr/>
        </p:nvSpPr>
        <p:spPr>
          <a:xfrm>
            <a:off x="3474720" y="12801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egurança (rótulo)"/>
          <p:cNvSpPr txBox="1"/>
          <p:nvPr/>
        </p:nvSpPr>
        <p:spPr>
          <a:xfrm>
            <a:off x="347472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</a:t>
            </a:r>
            <a:endParaRPr lang="en-US" sz="1300" dirty="0"/>
          </a:p>
        </p:txBody>
      </p:sp>
      <p:sp>
        <p:nvSpPr>
          <p:cNvPr id="12" name="Segurança (título)"/>
          <p:cNvSpPr txBox="1"/>
          <p:nvPr/>
        </p:nvSpPr>
        <p:spPr>
          <a:xfrm>
            <a:off x="3474720" y="1938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Segurança</a:t>
            </a:r>
            <a:endParaRPr lang="en-US" sz="1800" dirty="0"/>
          </a:p>
        </p:txBody>
      </p:sp>
      <p:sp>
        <p:nvSpPr>
          <p:cNvPr id="13" name="Segurança (subtítulo)"/>
          <p:cNvSpPr txBox="1"/>
          <p:nvPr/>
        </p:nvSpPr>
        <p:spPr>
          <a:xfrm>
            <a:off x="3474720" y="23042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Acesso controlado e LGPD</a:t>
            </a:r>
            <a:endParaRPr lang="en-US" sz="1200" dirty="0"/>
          </a:p>
        </p:txBody>
      </p:sp>
      <p:sp>
        <p:nvSpPr>
          <p:cNvPr id="14" name="Segurança (lista)"/>
          <p:cNvSpPr txBox="1"/>
          <p:nvPr/>
        </p:nvSpPr>
        <p:spPr>
          <a:xfrm>
            <a:off x="3474720" y="26974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Login individual e permissão por seção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Regras de acesso por linha no banco (RLS)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Dados pessoais de formulários protegidos</a:t>
            </a:r>
            <a:endParaRPr lang="en-US" sz="1150" dirty="0"/>
          </a:p>
        </p:txBody>
      </p:sp>
      <p:sp>
        <p:nvSpPr>
          <p:cNvPr id="15" name="Escala (cartão)"/>
          <p:cNvSpPr/>
          <p:nvPr/>
        </p:nvSpPr>
        <p:spPr>
          <a:xfrm>
            <a:off x="6035040" y="1097280"/>
            <a:ext cx="2606040" cy="34290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F1E3D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Escala (círculo)"/>
          <p:cNvSpPr/>
          <p:nvPr/>
        </p:nvSpPr>
        <p:spPr>
          <a:xfrm>
            <a:off x="6263640" y="128016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Escala (rótulo)"/>
          <p:cNvSpPr txBox="1"/>
          <p:nvPr/>
        </p:nvSpPr>
        <p:spPr>
          <a:xfrm>
            <a:off x="626364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E</a:t>
            </a:r>
            <a:endParaRPr lang="en-US" sz="1300" dirty="0"/>
          </a:p>
        </p:txBody>
      </p:sp>
      <p:sp>
        <p:nvSpPr>
          <p:cNvPr id="18" name="Escala (título)"/>
          <p:cNvSpPr txBox="1"/>
          <p:nvPr/>
        </p:nvSpPr>
        <p:spPr>
          <a:xfrm>
            <a:off x="6263640" y="1938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Escala</a:t>
            </a:r>
            <a:endParaRPr lang="en-US" sz="1800" dirty="0"/>
          </a:p>
        </p:txBody>
      </p:sp>
      <p:sp>
        <p:nvSpPr>
          <p:cNvPr id="19" name="Escala (subtítulo)"/>
          <p:cNvSpPr txBox="1"/>
          <p:nvPr/>
        </p:nvSpPr>
        <p:spPr>
          <a:xfrm>
            <a:off x="6263640" y="23042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Cresce sem custo proporcional</a:t>
            </a:r>
            <a:endParaRPr lang="en-US" sz="1200" dirty="0"/>
          </a:p>
        </p:txBody>
      </p:sp>
      <p:sp>
        <p:nvSpPr>
          <p:cNvPr id="20" name="Escala (lista)"/>
          <p:cNvSpPr txBox="1"/>
          <p:nvPr/>
        </p:nvSpPr>
        <p:spPr>
          <a:xfrm>
            <a:off x="6263640" y="26974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Novos usuários sem nova licença por pessoa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Novos indicadores entram no mesmo painel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Base para atender outras CDLs (consultoria)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</a:rPr>
              <a:t>Plano de implementação e cronograma</a:t>
            </a:r>
            <a:endParaRPr lang="en-US" sz="2200" dirty="0"/>
          </a:p>
        </p:txBody>
      </p:sp>
      <p:sp>
        <p:nvSpPr>
          <p:cNvPr id="3" name="Linha do tempo"/>
          <p:cNvSpPr/>
          <p:nvPr/>
        </p:nvSpPr>
        <p:spPr>
          <a:xfrm>
            <a:off x="731520" y="1691640"/>
            <a:ext cx="7680960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Fase 1 (marco)"/>
          <p:cNvSpPr/>
          <p:nvPr/>
        </p:nvSpPr>
        <p:spPr>
          <a:xfrm>
            <a:off x="1261872" y="1536192"/>
            <a:ext cx="310896" cy="31089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Fase 1 (período)"/>
          <p:cNvSpPr txBox="1"/>
          <p:nvPr/>
        </p:nvSpPr>
        <p:spPr>
          <a:xfrm>
            <a:off x="457200" y="1051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6"/>
                </a:solidFill>
              </a:rPr>
              <a:t>Fase 1 · Out/2026</a:t>
            </a:r>
            <a:endParaRPr lang="en-US" sz="1100" dirty="0"/>
          </a:p>
        </p:txBody>
      </p:sp>
      <p:sp>
        <p:nvSpPr>
          <p:cNvPr id="6" name="Fase 1 (cartão)"/>
          <p:cNvSpPr/>
          <p:nvPr/>
        </p:nvSpPr>
        <p:spPr>
          <a:xfrm>
            <a:off x="457200" y="2057400"/>
            <a:ext cx="1920240" cy="24688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F1E3D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Fase 1 (nome)"/>
          <p:cNvSpPr txBox="1"/>
          <p:nvPr/>
        </p:nvSpPr>
        <p:spPr>
          <a:xfrm>
            <a:off x="621792" y="21762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Fundação</a:t>
            </a:r>
            <a:endParaRPr lang="en-US" sz="1600" dirty="0"/>
          </a:p>
        </p:txBody>
      </p:sp>
      <p:sp>
        <p:nvSpPr>
          <p:cNvPr id="8" name="Fase 1 (status, fundo)"/>
          <p:cNvSpPr/>
          <p:nvPr/>
        </p:nvSpPr>
        <p:spPr>
          <a:xfrm>
            <a:off x="621792" y="2578608"/>
            <a:ext cx="1143000" cy="274320"/>
          </a:xfrm>
          <a:prstGeom prst="roundRect">
            <a:avLst>
              <a:gd name="adj" fmla="val 26667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Fase 1 (status)"/>
          <p:cNvSpPr txBox="1"/>
          <p:nvPr/>
        </p:nvSpPr>
        <p:spPr>
          <a:xfrm>
            <a:off x="621792" y="25786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Concluída</a:t>
            </a:r>
            <a:endParaRPr lang="en-US" sz="1000" dirty="0"/>
          </a:p>
        </p:txBody>
      </p:sp>
      <p:sp>
        <p:nvSpPr>
          <p:cNvPr id="10" name="Fase 1 (entregas)"/>
          <p:cNvSpPr txBox="1"/>
          <p:nvPr/>
        </p:nvSpPr>
        <p:spPr>
          <a:xfrm>
            <a:off x="566928" y="297180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Plataforma com login</a:t>
            </a:r>
            <a:endParaRPr lang="en-US" sz="1100" dirty="0"/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Dashboard Panorama Econ.</a:t>
            </a:r>
            <a:endParaRPr lang="en-US" sz="1100" dirty="0"/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</a:rPr>
              <a:t>Relatórios</a:t>
            </a:r>
            <a:r>
              <a:rPr lang="en-US" sz="1100" dirty="0">
                <a:solidFill>
                  <a:schemeClr val="tx1"/>
                </a:solidFill>
              </a:rPr>
              <a:t> (</a:t>
            </a:r>
            <a:r>
              <a:rPr lang="en-US" sz="1100" dirty="0" err="1">
                <a:solidFill>
                  <a:schemeClr val="tx1"/>
                </a:solidFill>
              </a:rPr>
              <a:t>documentação</a:t>
            </a:r>
            <a:r>
              <a:rPr lang="en-US" sz="1100" dirty="0">
                <a:solidFill>
                  <a:schemeClr val="tx1"/>
                </a:solidFill>
              </a:rPr>
              <a:t>)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Clipping News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Survey</a:t>
            </a:r>
            <a:r>
              <a:rPr lang="en-US" sz="1100" dirty="0"/>
              <a:t> e</a:t>
            </a:r>
            <a:r>
              <a:rPr lang="en-US" sz="1100" dirty="0">
                <a:solidFill>
                  <a:schemeClr val="tx1"/>
                </a:solidFill>
              </a:rPr>
              <a:t> Estoque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/>
              <a:t>Controle de Estoque</a:t>
            </a:r>
          </a:p>
        </p:txBody>
      </p:sp>
      <p:sp>
        <p:nvSpPr>
          <p:cNvPr id="11" name="Fase 2 (marco)"/>
          <p:cNvSpPr/>
          <p:nvPr/>
        </p:nvSpPr>
        <p:spPr>
          <a:xfrm>
            <a:off x="3364992" y="153619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Fase 2 (período)"/>
          <p:cNvSpPr txBox="1"/>
          <p:nvPr/>
        </p:nvSpPr>
        <p:spPr>
          <a:xfrm>
            <a:off x="2560320" y="1051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6"/>
                </a:solidFill>
              </a:rPr>
              <a:t>Fase 2 · Nov/2026</a:t>
            </a:r>
            <a:endParaRPr lang="en-US" sz="1100" dirty="0"/>
          </a:p>
        </p:txBody>
      </p:sp>
      <p:sp>
        <p:nvSpPr>
          <p:cNvPr id="13" name="Fase 2 (cartão)"/>
          <p:cNvSpPr/>
          <p:nvPr/>
        </p:nvSpPr>
        <p:spPr>
          <a:xfrm>
            <a:off x="2560320" y="2057400"/>
            <a:ext cx="1920240" cy="24688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F1E3D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Fase 2 (nome)"/>
          <p:cNvSpPr txBox="1"/>
          <p:nvPr/>
        </p:nvSpPr>
        <p:spPr>
          <a:xfrm>
            <a:off x="2724912" y="21762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Consolidação</a:t>
            </a:r>
            <a:endParaRPr lang="en-US" sz="1600" dirty="0"/>
          </a:p>
        </p:txBody>
      </p:sp>
      <p:sp>
        <p:nvSpPr>
          <p:cNvPr id="17" name="Fase 2 (entregas)"/>
          <p:cNvSpPr txBox="1"/>
          <p:nvPr/>
        </p:nvSpPr>
        <p:spPr>
          <a:xfrm>
            <a:off x="2670048" y="297180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Survey em tempo real</a:t>
            </a:r>
            <a:endParaRPr lang="en-US" sz="1100" dirty="0"/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Mapa de empresas por CEP</a:t>
            </a:r>
            <a:endParaRPr lang="en-US" sz="1100" dirty="0"/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Testes e organização do Código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 err="1"/>
              <a:t>Implementação</a:t>
            </a:r>
            <a:r>
              <a:rPr lang="en-US" sz="1100" dirty="0"/>
              <a:t> do Estoque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 err="1"/>
              <a:t>Gerador</a:t>
            </a:r>
            <a:r>
              <a:rPr lang="en-US" sz="1100" dirty="0"/>
              <a:t> de </a:t>
            </a:r>
            <a:r>
              <a:rPr lang="en-US" sz="1100" dirty="0" err="1"/>
              <a:t>Relatórios</a:t>
            </a:r>
            <a:r>
              <a:rPr lang="en-US" sz="1100" dirty="0"/>
              <a:t> (pdf)</a:t>
            </a:r>
          </a:p>
        </p:txBody>
      </p:sp>
      <p:sp>
        <p:nvSpPr>
          <p:cNvPr id="18" name="Fase 3 (marco)"/>
          <p:cNvSpPr/>
          <p:nvPr/>
        </p:nvSpPr>
        <p:spPr>
          <a:xfrm>
            <a:off x="5468112" y="1536192"/>
            <a:ext cx="310896" cy="310896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Fase 3 (período)"/>
          <p:cNvSpPr txBox="1"/>
          <p:nvPr/>
        </p:nvSpPr>
        <p:spPr>
          <a:xfrm>
            <a:off x="4663440" y="1051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6"/>
                </a:solidFill>
              </a:rPr>
              <a:t>Fase 3 · Dez/2027</a:t>
            </a:r>
            <a:endParaRPr lang="en-US" sz="1100" dirty="0"/>
          </a:p>
        </p:txBody>
      </p:sp>
      <p:sp>
        <p:nvSpPr>
          <p:cNvPr id="20" name="Fase 3 (cartão)"/>
          <p:cNvSpPr/>
          <p:nvPr/>
        </p:nvSpPr>
        <p:spPr>
          <a:xfrm>
            <a:off x="4663440" y="2057400"/>
            <a:ext cx="1920240" cy="24688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F1E3D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Fase 3 (nome)"/>
          <p:cNvSpPr txBox="1"/>
          <p:nvPr/>
        </p:nvSpPr>
        <p:spPr>
          <a:xfrm>
            <a:off x="4828032" y="21762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Expansão</a:t>
            </a:r>
            <a:endParaRPr lang="en-US" sz="1600" dirty="0"/>
          </a:p>
        </p:txBody>
      </p:sp>
      <p:sp>
        <p:nvSpPr>
          <p:cNvPr id="22" name="Fase 3 (status, fundo)"/>
          <p:cNvSpPr/>
          <p:nvPr/>
        </p:nvSpPr>
        <p:spPr>
          <a:xfrm>
            <a:off x="4828032" y="2578608"/>
            <a:ext cx="1143000" cy="274320"/>
          </a:xfrm>
          <a:prstGeom prst="roundRect">
            <a:avLst>
              <a:gd name="adj" fmla="val 26667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Fase 3 (status)"/>
          <p:cNvSpPr txBox="1"/>
          <p:nvPr/>
        </p:nvSpPr>
        <p:spPr>
          <a:xfrm>
            <a:off x="4828032" y="25786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Planejada</a:t>
            </a:r>
            <a:endParaRPr lang="en-US" sz="1000" dirty="0"/>
          </a:p>
        </p:txBody>
      </p:sp>
      <p:sp>
        <p:nvSpPr>
          <p:cNvPr id="24" name="Fase 3 (entregas)"/>
          <p:cNvSpPr txBox="1"/>
          <p:nvPr/>
        </p:nvSpPr>
        <p:spPr>
          <a:xfrm>
            <a:off x="4773168" y="297180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WhatsApp e campanhas</a:t>
            </a:r>
            <a:endParaRPr lang="en-US" sz="1100" dirty="0"/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</a:rPr>
              <a:t>Treinamento</a:t>
            </a:r>
            <a:r>
              <a:rPr lang="en-US" sz="1100" dirty="0">
                <a:solidFill>
                  <a:schemeClr val="tx1"/>
                </a:solidFill>
              </a:rPr>
              <a:t> das </a:t>
            </a:r>
            <a:r>
              <a:rPr lang="en-US" sz="1100" dirty="0" err="1">
                <a:solidFill>
                  <a:schemeClr val="tx1"/>
                </a:solidFill>
              </a:rPr>
              <a:t>áreas</a:t>
            </a:r>
            <a:endParaRPr lang="en-US" sz="1100" dirty="0">
              <a:solidFill>
                <a:schemeClr val="tx1"/>
              </a:solidFill>
            </a:endParaRP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 err="1"/>
              <a:t>Aprovar</a:t>
            </a:r>
            <a:r>
              <a:rPr lang="en-US" sz="1100" dirty="0"/>
              <a:t> </a:t>
            </a:r>
            <a:r>
              <a:rPr lang="en-US" sz="1100" dirty="0" err="1"/>
              <a:t>apresentação</a:t>
            </a:r>
            <a:r>
              <a:rPr lang="en-US" sz="1100" dirty="0"/>
              <a:t> official </a:t>
            </a:r>
            <a:r>
              <a:rPr lang="en-US" sz="1100" dirty="0" err="1"/>
              <a:t>ao</a:t>
            </a:r>
            <a:r>
              <a:rPr lang="en-US" sz="1100" dirty="0"/>
              <a:t> time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 err="1"/>
              <a:t>Aprovar</a:t>
            </a:r>
            <a:r>
              <a:rPr lang="en-US" sz="1100" dirty="0"/>
              <a:t> </a:t>
            </a:r>
            <a:r>
              <a:rPr lang="en-US" sz="1100" dirty="0" err="1"/>
              <a:t>Orçamento</a:t>
            </a:r>
            <a:endParaRPr lang="en-US" sz="1100" dirty="0"/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 err="1"/>
              <a:t>Autorizar</a:t>
            </a:r>
            <a:r>
              <a:rPr lang="en-US" sz="1100" dirty="0"/>
              <a:t> </a:t>
            </a:r>
            <a:r>
              <a:rPr lang="en-US" sz="1100" dirty="0" err="1"/>
              <a:t>oferta</a:t>
            </a:r>
            <a:r>
              <a:rPr lang="en-US" sz="1100" dirty="0"/>
              <a:t> externa</a:t>
            </a:r>
          </a:p>
        </p:txBody>
      </p:sp>
      <p:sp>
        <p:nvSpPr>
          <p:cNvPr id="25" name="Fase 4 (marco)"/>
          <p:cNvSpPr/>
          <p:nvPr/>
        </p:nvSpPr>
        <p:spPr>
          <a:xfrm>
            <a:off x="7571232" y="1536192"/>
            <a:ext cx="310896" cy="310896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Fase 4 (período)"/>
          <p:cNvSpPr txBox="1"/>
          <p:nvPr/>
        </p:nvSpPr>
        <p:spPr>
          <a:xfrm>
            <a:off x="6766560" y="1051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6"/>
                </a:solidFill>
              </a:rPr>
              <a:t>Fase 4 · 2º tri/2027</a:t>
            </a:r>
            <a:endParaRPr lang="en-US" sz="1100" dirty="0"/>
          </a:p>
        </p:txBody>
      </p:sp>
      <p:sp>
        <p:nvSpPr>
          <p:cNvPr id="27" name="Fase 4 (cartão)"/>
          <p:cNvSpPr/>
          <p:nvPr/>
        </p:nvSpPr>
        <p:spPr>
          <a:xfrm>
            <a:off x="6766560" y="2057400"/>
            <a:ext cx="1920240" cy="24688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F1E3D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Fase 4 (nome)"/>
          <p:cNvSpPr txBox="1"/>
          <p:nvPr/>
        </p:nvSpPr>
        <p:spPr>
          <a:xfrm>
            <a:off x="6931152" y="21762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Escala</a:t>
            </a:r>
            <a:endParaRPr lang="en-US" sz="1600" dirty="0"/>
          </a:p>
        </p:txBody>
      </p:sp>
      <p:sp>
        <p:nvSpPr>
          <p:cNvPr id="29" name="Fase 4 (status, fundo)"/>
          <p:cNvSpPr/>
          <p:nvPr/>
        </p:nvSpPr>
        <p:spPr>
          <a:xfrm>
            <a:off x="6931152" y="2578608"/>
            <a:ext cx="1143000" cy="274320"/>
          </a:xfrm>
          <a:prstGeom prst="roundRect">
            <a:avLst>
              <a:gd name="adj" fmla="val 26667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Fase 4 (status)"/>
          <p:cNvSpPr txBox="1"/>
          <p:nvPr/>
        </p:nvSpPr>
        <p:spPr>
          <a:xfrm>
            <a:off x="6931152" y="25786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Planejada</a:t>
            </a:r>
            <a:endParaRPr lang="en-US" sz="1000" dirty="0"/>
          </a:p>
        </p:txBody>
      </p:sp>
      <p:sp>
        <p:nvSpPr>
          <p:cNvPr id="31" name="Fase 4 (entregas)"/>
          <p:cNvSpPr txBox="1"/>
          <p:nvPr/>
        </p:nvSpPr>
        <p:spPr>
          <a:xfrm>
            <a:off x="6876288" y="297180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Oferta às CDLs parceiras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Planos de consultoria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Análises com IA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 err="1"/>
              <a:t>Aprovar</a:t>
            </a:r>
            <a:r>
              <a:rPr lang="en-US" sz="1100" dirty="0"/>
              <a:t> </a:t>
            </a:r>
            <a:r>
              <a:rPr lang="en-US" sz="1100" dirty="0" err="1"/>
              <a:t>apresentação</a:t>
            </a:r>
            <a:r>
              <a:rPr lang="en-US" sz="1100" dirty="0"/>
              <a:t> official </a:t>
            </a:r>
            <a:r>
              <a:rPr lang="en-US" sz="1100" dirty="0" err="1"/>
              <a:t>ao</a:t>
            </a:r>
            <a:r>
              <a:rPr lang="en-US" sz="1100" dirty="0"/>
              <a:t> time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 err="1"/>
              <a:t>Aprovar</a:t>
            </a:r>
            <a:r>
              <a:rPr lang="en-US" sz="1100" dirty="0"/>
              <a:t> </a:t>
            </a:r>
            <a:r>
              <a:rPr lang="en-US" sz="1100" dirty="0" err="1"/>
              <a:t>Orçamento</a:t>
            </a:r>
            <a:endParaRPr lang="en-US" sz="1100" dirty="0"/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</a:rPr>
              <a:t>Autorizar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oferta</a:t>
            </a:r>
            <a:r>
              <a:rPr lang="en-US" sz="1100" dirty="0">
                <a:solidFill>
                  <a:schemeClr val="tx1"/>
                </a:solidFill>
              </a:rPr>
              <a:t> externa</a:t>
            </a:r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36" name="Fase 1 (status, fundo)">
            <a:extLst>
              <a:ext uri="{FF2B5EF4-FFF2-40B4-BE49-F238E27FC236}">
                <a16:creationId xmlns:a16="http://schemas.microsoft.com/office/drawing/2014/main" id="{4A660CD6-A274-6ABE-D8EB-01E0A85C66C8}"/>
              </a:ext>
            </a:extLst>
          </p:cNvPr>
          <p:cNvSpPr/>
          <p:nvPr/>
        </p:nvSpPr>
        <p:spPr>
          <a:xfrm>
            <a:off x="2907792" y="2604986"/>
            <a:ext cx="1143000" cy="274320"/>
          </a:xfrm>
          <a:prstGeom prst="roundRect">
            <a:avLst>
              <a:gd name="adj" fmla="val 26667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Fase 1 (status)">
            <a:extLst>
              <a:ext uri="{FF2B5EF4-FFF2-40B4-BE49-F238E27FC236}">
                <a16:creationId xmlns:a16="http://schemas.microsoft.com/office/drawing/2014/main" id="{6B2A0DC4-8E60-99F7-5E41-01FB04EB09EA}"/>
              </a:ext>
            </a:extLst>
          </p:cNvPr>
          <p:cNvSpPr txBox="1"/>
          <p:nvPr/>
        </p:nvSpPr>
        <p:spPr>
          <a:xfrm>
            <a:off x="2907792" y="260498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Concluída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</a:rPr>
              <a:t>Módulos e ferramentas principais</a:t>
            </a:r>
            <a:endParaRPr lang="en-US" sz="2200" dirty="0"/>
          </a:p>
        </p:txBody>
      </p:sp>
      <p:sp>
        <p:nvSpPr>
          <p:cNvPr id="3" name="Módulo 1 (cartão)"/>
          <p:cNvSpPr/>
          <p:nvPr/>
        </p:nvSpPr>
        <p:spPr>
          <a:xfrm>
            <a:off x="457200" y="1051560"/>
            <a:ext cx="265176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F1E3D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Módulo 1 (círculo)"/>
          <p:cNvSpPr/>
          <p:nvPr/>
        </p:nvSpPr>
        <p:spPr>
          <a:xfrm>
            <a:off x="621792" y="1234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Módulo 1 (rótulo)"/>
          <p:cNvSpPr txBox="1"/>
          <p:nvPr/>
        </p:nvSpPr>
        <p:spPr>
          <a:xfrm>
            <a:off x="621792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01</a:t>
            </a:r>
            <a:endParaRPr lang="en-US" sz="900" dirty="0"/>
          </a:p>
        </p:txBody>
      </p:sp>
      <p:sp>
        <p:nvSpPr>
          <p:cNvPr id="6" name="Módulo 1 (título)"/>
          <p:cNvSpPr txBox="1"/>
          <p:nvPr/>
        </p:nvSpPr>
        <p:spPr>
          <a:xfrm>
            <a:off x="1115568" y="121615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Dashboard</a:t>
            </a:r>
            <a:endParaRPr lang="en-US" sz="1300" dirty="0"/>
          </a:p>
        </p:txBody>
      </p:sp>
      <p:sp>
        <p:nvSpPr>
          <p:cNvPr id="7" name="Módulo 1 (descrição)"/>
          <p:cNvSpPr txBox="1"/>
          <p:nvPr/>
        </p:nvSpPr>
        <p:spPr>
          <a:xfrm>
            <a:off x="621792" y="16733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Panorama Econômico: CAGED, empresas (CNPJ), Sefaz, IBGE, Stone e Cielo</a:t>
            </a:r>
            <a:endParaRPr lang="en-US" sz="1000" dirty="0"/>
          </a:p>
        </p:txBody>
      </p:sp>
      <p:sp>
        <p:nvSpPr>
          <p:cNvPr id="8" name="Módulo 2 (cartão)"/>
          <p:cNvSpPr/>
          <p:nvPr/>
        </p:nvSpPr>
        <p:spPr>
          <a:xfrm>
            <a:off x="3246120" y="1051560"/>
            <a:ext cx="265176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F1E3D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Módulo 2 (círculo)"/>
          <p:cNvSpPr/>
          <p:nvPr/>
        </p:nvSpPr>
        <p:spPr>
          <a:xfrm>
            <a:off x="3410712" y="1234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Módulo 2 (rótulo)"/>
          <p:cNvSpPr txBox="1"/>
          <p:nvPr/>
        </p:nvSpPr>
        <p:spPr>
          <a:xfrm>
            <a:off x="3410712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02</a:t>
            </a:r>
            <a:endParaRPr lang="en-US" sz="900" dirty="0"/>
          </a:p>
        </p:txBody>
      </p:sp>
      <p:sp>
        <p:nvSpPr>
          <p:cNvPr id="11" name="Módulo 2 (título)"/>
          <p:cNvSpPr txBox="1"/>
          <p:nvPr/>
        </p:nvSpPr>
        <p:spPr>
          <a:xfrm>
            <a:off x="3904488" y="121615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Mapa de empresas</a:t>
            </a:r>
            <a:endParaRPr lang="en-US" sz="1300" dirty="0"/>
          </a:p>
        </p:txBody>
      </p:sp>
      <p:sp>
        <p:nvSpPr>
          <p:cNvPr id="12" name="Módulo 2 (descrição)"/>
          <p:cNvSpPr txBox="1"/>
          <p:nvPr/>
        </p:nvSpPr>
        <p:spPr>
          <a:xfrm>
            <a:off x="3410712" y="16733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CNPJs de MT plotados pelo CEP registrado na Receita</a:t>
            </a:r>
            <a:endParaRPr lang="en-US" sz="1000" dirty="0"/>
          </a:p>
        </p:txBody>
      </p:sp>
      <p:sp>
        <p:nvSpPr>
          <p:cNvPr id="13" name="Módulo 3 (cartão)"/>
          <p:cNvSpPr/>
          <p:nvPr/>
        </p:nvSpPr>
        <p:spPr>
          <a:xfrm>
            <a:off x="6035040" y="1051560"/>
            <a:ext cx="265176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F1E3D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Módulo 3 (círculo)"/>
          <p:cNvSpPr/>
          <p:nvPr/>
        </p:nvSpPr>
        <p:spPr>
          <a:xfrm>
            <a:off x="6199632" y="1234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Módulo 3 (rótulo)"/>
          <p:cNvSpPr txBox="1"/>
          <p:nvPr/>
        </p:nvSpPr>
        <p:spPr>
          <a:xfrm>
            <a:off x="6199632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03</a:t>
            </a:r>
            <a:endParaRPr lang="en-US" sz="900" dirty="0"/>
          </a:p>
        </p:txBody>
      </p:sp>
      <p:sp>
        <p:nvSpPr>
          <p:cNvPr id="16" name="Módulo 3 (título)"/>
          <p:cNvSpPr txBox="1"/>
          <p:nvPr/>
        </p:nvSpPr>
        <p:spPr>
          <a:xfrm>
            <a:off x="6693408" y="121615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Clipping News</a:t>
            </a:r>
            <a:endParaRPr lang="en-US" sz="1300" dirty="0"/>
          </a:p>
        </p:txBody>
      </p:sp>
      <p:sp>
        <p:nvSpPr>
          <p:cNvPr id="17" name="Módulo 3 (descrição)"/>
          <p:cNvSpPr txBox="1"/>
          <p:nvPr/>
        </p:nvSpPr>
        <p:spPr>
          <a:xfrm>
            <a:off x="6199632" y="16733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Notícias coletadas e comparadas com outras entidades</a:t>
            </a:r>
            <a:endParaRPr lang="en-US" sz="1000" dirty="0"/>
          </a:p>
        </p:txBody>
      </p:sp>
      <p:sp>
        <p:nvSpPr>
          <p:cNvPr id="18" name="Módulo 4 (cartão)"/>
          <p:cNvSpPr/>
          <p:nvPr/>
        </p:nvSpPr>
        <p:spPr>
          <a:xfrm>
            <a:off x="457200" y="2267712"/>
            <a:ext cx="265176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F1E3D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Módulo 4 (círculo)"/>
          <p:cNvSpPr/>
          <p:nvPr/>
        </p:nvSpPr>
        <p:spPr>
          <a:xfrm>
            <a:off x="621792" y="245059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Módulo 4 (rótulo)"/>
          <p:cNvSpPr txBox="1"/>
          <p:nvPr/>
        </p:nvSpPr>
        <p:spPr>
          <a:xfrm>
            <a:off x="621792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04</a:t>
            </a:r>
            <a:endParaRPr lang="en-US" sz="900" dirty="0"/>
          </a:p>
        </p:txBody>
      </p:sp>
      <p:sp>
        <p:nvSpPr>
          <p:cNvPr id="21" name="Módulo 4 (título)"/>
          <p:cNvSpPr txBox="1"/>
          <p:nvPr/>
        </p:nvSpPr>
        <p:spPr>
          <a:xfrm>
            <a:off x="1115568" y="2432304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Relatórios</a:t>
            </a:r>
            <a:endParaRPr lang="en-US" sz="1300" dirty="0"/>
          </a:p>
        </p:txBody>
      </p:sp>
      <p:sp>
        <p:nvSpPr>
          <p:cNvPr id="22" name="Módulo 4 (descrição)"/>
          <p:cNvSpPr txBox="1"/>
          <p:nvPr/>
        </p:nvSpPr>
        <p:spPr>
          <a:xfrm>
            <a:off x="621792" y="288950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Newsletter e relatórios em PDF gerados automaticamente</a:t>
            </a:r>
            <a:endParaRPr lang="en-US" sz="1000" dirty="0"/>
          </a:p>
        </p:txBody>
      </p:sp>
      <p:sp>
        <p:nvSpPr>
          <p:cNvPr id="23" name="Módulo 5 (cartão)"/>
          <p:cNvSpPr/>
          <p:nvPr/>
        </p:nvSpPr>
        <p:spPr>
          <a:xfrm>
            <a:off x="3246120" y="2267712"/>
            <a:ext cx="265176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F1E3D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Módulo 5 (círculo)"/>
          <p:cNvSpPr/>
          <p:nvPr/>
        </p:nvSpPr>
        <p:spPr>
          <a:xfrm>
            <a:off x="3410712" y="245059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Módulo 5 (rótulo)"/>
          <p:cNvSpPr txBox="1"/>
          <p:nvPr/>
        </p:nvSpPr>
        <p:spPr>
          <a:xfrm>
            <a:off x="3410712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05</a:t>
            </a:r>
            <a:endParaRPr lang="en-US" sz="900" dirty="0"/>
          </a:p>
        </p:txBody>
      </p:sp>
      <p:sp>
        <p:nvSpPr>
          <p:cNvPr id="26" name="Módulo 5 (título)"/>
          <p:cNvSpPr txBox="1"/>
          <p:nvPr/>
        </p:nvSpPr>
        <p:spPr>
          <a:xfrm>
            <a:off x="3904488" y="2432304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Survey Monkey</a:t>
            </a:r>
            <a:endParaRPr lang="en-US" sz="1300" dirty="0"/>
          </a:p>
        </p:txBody>
      </p:sp>
      <p:sp>
        <p:nvSpPr>
          <p:cNvPr id="27" name="Módulo 5 (descrição)"/>
          <p:cNvSpPr txBox="1"/>
          <p:nvPr/>
        </p:nvSpPr>
        <p:spPr>
          <a:xfrm>
            <a:off x="3410712" y="288950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Formulários e respostas em tempo real, com links de coleta</a:t>
            </a:r>
            <a:endParaRPr lang="en-US" sz="1000" dirty="0"/>
          </a:p>
        </p:txBody>
      </p:sp>
      <p:sp>
        <p:nvSpPr>
          <p:cNvPr id="28" name="Módulo 6 (cartão)"/>
          <p:cNvSpPr/>
          <p:nvPr/>
        </p:nvSpPr>
        <p:spPr>
          <a:xfrm>
            <a:off x="6035040" y="2267712"/>
            <a:ext cx="265176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F1E3D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Módulo 6 (círculo)"/>
          <p:cNvSpPr/>
          <p:nvPr/>
        </p:nvSpPr>
        <p:spPr>
          <a:xfrm>
            <a:off x="6199632" y="245059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Módulo 6 (rótulo)"/>
          <p:cNvSpPr txBox="1"/>
          <p:nvPr/>
        </p:nvSpPr>
        <p:spPr>
          <a:xfrm>
            <a:off x="6199632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06</a:t>
            </a:r>
            <a:endParaRPr lang="en-US" sz="900" dirty="0"/>
          </a:p>
        </p:txBody>
      </p:sp>
      <p:sp>
        <p:nvSpPr>
          <p:cNvPr id="31" name="Módulo 6 (título)"/>
          <p:cNvSpPr txBox="1"/>
          <p:nvPr/>
        </p:nvSpPr>
        <p:spPr>
          <a:xfrm>
            <a:off x="6693408" y="2432304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Estoque</a:t>
            </a:r>
            <a:endParaRPr lang="en-US" sz="1300" dirty="0"/>
          </a:p>
        </p:txBody>
      </p:sp>
      <p:sp>
        <p:nvSpPr>
          <p:cNvPr id="32" name="Módulo 6 (descrição)"/>
          <p:cNvSpPr txBox="1"/>
          <p:nvPr/>
        </p:nvSpPr>
        <p:spPr>
          <a:xfrm>
            <a:off x="6199632" y="288950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Controle de materiais, notas fiscais e leitura por QR code</a:t>
            </a:r>
            <a:endParaRPr lang="en-US" sz="1000" dirty="0"/>
          </a:p>
        </p:txBody>
      </p:sp>
      <p:sp>
        <p:nvSpPr>
          <p:cNvPr id="33" name="Módulo 7 (cartão)"/>
          <p:cNvSpPr/>
          <p:nvPr/>
        </p:nvSpPr>
        <p:spPr>
          <a:xfrm>
            <a:off x="457200" y="3483864"/>
            <a:ext cx="265176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F1E3D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4" name="Módulo 7 (círculo)"/>
          <p:cNvSpPr/>
          <p:nvPr/>
        </p:nvSpPr>
        <p:spPr>
          <a:xfrm>
            <a:off x="621792" y="366674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Módulo 7 (rótulo)"/>
          <p:cNvSpPr txBox="1"/>
          <p:nvPr/>
        </p:nvSpPr>
        <p:spPr>
          <a:xfrm>
            <a:off x="621792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07</a:t>
            </a:r>
            <a:endParaRPr lang="en-US" sz="900" dirty="0"/>
          </a:p>
        </p:txBody>
      </p:sp>
      <p:sp>
        <p:nvSpPr>
          <p:cNvPr id="36" name="Módulo 7 (título)"/>
          <p:cNvSpPr txBox="1"/>
          <p:nvPr/>
        </p:nvSpPr>
        <p:spPr>
          <a:xfrm>
            <a:off x="1115568" y="3648456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Usuários e acesso</a:t>
            </a:r>
            <a:endParaRPr lang="en-US" sz="1300" dirty="0"/>
          </a:p>
        </p:txBody>
      </p:sp>
      <p:sp>
        <p:nvSpPr>
          <p:cNvPr id="37" name="Módulo 7 (descrição)"/>
          <p:cNvSpPr txBox="1"/>
          <p:nvPr/>
        </p:nvSpPr>
        <p:spPr>
          <a:xfrm>
            <a:off x="621792" y="410565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Login único e permissão por seção para cada pessoa</a:t>
            </a:r>
            <a:endParaRPr lang="en-US" sz="1000" dirty="0"/>
          </a:p>
        </p:txBody>
      </p:sp>
      <p:sp>
        <p:nvSpPr>
          <p:cNvPr id="38" name="Módulo 8 (cartão)"/>
          <p:cNvSpPr/>
          <p:nvPr/>
        </p:nvSpPr>
        <p:spPr>
          <a:xfrm>
            <a:off x="3246120" y="3483864"/>
            <a:ext cx="265176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F1E3D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9" name="Módulo 8 (círculo)"/>
          <p:cNvSpPr/>
          <p:nvPr/>
        </p:nvSpPr>
        <p:spPr>
          <a:xfrm>
            <a:off x="3410712" y="366674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Módulo 8 (rótulo)"/>
          <p:cNvSpPr txBox="1"/>
          <p:nvPr/>
        </p:nvSpPr>
        <p:spPr>
          <a:xfrm>
            <a:off x="3410712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08</a:t>
            </a:r>
            <a:endParaRPr lang="en-US" sz="900" dirty="0"/>
          </a:p>
        </p:txBody>
      </p:sp>
      <p:sp>
        <p:nvSpPr>
          <p:cNvPr id="41" name="Módulo 8 (título)"/>
          <p:cNvSpPr txBox="1"/>
          <p:nvPr/>
        </p:nvSpPr>
        <p:spPr>
          <a:xfrm>
            <a:off x="3904488" y="3648456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Supabase</a:t>
            </a:r>
            <a:endParaRPr lang="en-US" sz="1300" dirty="0"/>
          </a:p>
        </p:txBody>
      </p:sp>
      <p:sp>
        <p:nvSpPr>
          <p:cNvPr id="42" name="Módulo 8 (descrição)"/>
          <p:cNvSpPr txBox="1"/>
          <p:nvPr/>
        </p:nvSpPr>
        <p:spPr>
          <a:xfrm>
            <a:off x="3410712" y="410565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Visualização de todas as tabelas do banco, somente leitura</a:t>
            </a:r>
            <a:endParaRPr lang="en-US" sz="1000" dirty="0"/>
          </a:p>
        </p:txBody>
      </p:sp>
      <p:sp>
        <p:nvSpPr>
          <p:cNvPr id="43" name="Módulo 9 (cartão)"/>
          <p:cNvSpPr/>
          <p:nvPr/>
        </p:nvSpPr>
        <p:spPr>
          <a:xfrm>
            <a:off x="6035040" y="3483864"/>
            <a:ext cx="265176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F1E3D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4" name="Módulo 9 (círculo)"/>
          <p:cNvSpPr/>
          <p:nvPr/>
        </p:nvSpPr>
        <p:spPr>
          <a:xfrm>
            <a:off x="6199632" y="3666744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Módulo 9 (rótulo)"/>
          <p:cNvSpPr txBox="1"/>
          <p:nvPr/>
        </p:nvSpPr>
        <p:spPr>
          <a:xfrm>
            <a:off x="6199632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09</a:t>
            </a:r>
            <a:endParaRPr lang="en-US" sz="900" dirty="0"/>
          </a:p>
        </p:txBody>
      </p:sp>
      <p:sp>
        <p:nvSpPr>
          <p:cNvPr id="46" name="Módulo 9 (título)"/>
          <p:cNvSpPr txBox="1"/>
          <p:nvPr/>
        </p:nvSpPr>
        <p:spPr>
          <a:xfrm>
            <a:off x="6693408" y="3648456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WhatsApp e Campanhas</a:t>
            </a:r>
            <a:endParaRPr lang="en-US" sz="1300" dirty="0"/>
          </a:p>
        </p:txBody>
      </p:sp>
      <p:sp>
        <p:nvSpPr>
          <p:cNvPr id="47" name="Módulo 9 (descrição)"/>
          <p:cNvSpPr txBox="1"/>
          <p:nvPr/>
        </p:nvSpPr>
        <p:spPr>
          <a:xfrm>
            <a:off x="6199632" y="410565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Envios e campanhas — em construção</a:t>
            </a:r>
            <a:endParaRPr lang="en-US" sz="10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</a:rPr>
              <a:t>Fluxo de trabalho: do dado bruto à decisão</a:t>
            </a:r>
            <a:endParaRPr lang="en-US" sz="2200" dirty="0"/>
          </a:p>
        </p:txBody>
      </p:sp>
      <p:sp>
        <p:nvSpPr>
          <p:cNvPr id="3" name="Etapa 1 (seta)"/>
          <p:cNvSpPr/>
          <p:nvPr/>
        </p:nvSpPr>
        <p:spPr>
          <a:xfrm>
            <a:off x="457200" y="1097280"/>
            <a:ext cx="2011680" cy="731520"/>
          </a:xfrm>
          <a:prstGeom prst="chevron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Etapa 1 (título)"/>
          <p:cNvSpPr txBox="1"/>
          <p:nvPr/>
        </p:nvSpPr>
        <p:spPr>
          <a:xfrm>
            <a:off x="731520" y="10972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1. Coleta</a:t>
            </a:r>
            <a:endParaRPr lang="en-US" sz="1400" dirty="0"/>
          </a:p>
        </p:txBody>
      </p:sp>
      <p:sp>
        <p:nvSpPr>
          <p:cNvPr id="5" name="Etapa 1 (descrição)"/>
          <p:cNvSpPr txBox="1"/>
          <p:nvPr/>
        </p:nvSpPr>
        <p:spPr>
          <a:xfrm>
            <a:off x="548640" y="19659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Robôs buscam os dados das fontes oficiais todos os dias</a:t>
            </a:r>
            <a:endParaRPr lang="en-US" sz="1100" dirty="0"/>
          </a:p>
        </p:txBody>
      </p:sp>
      <p:sp>
        <p:nvSpPr>
          <p:cNvPr id="6" name="Etapa 2 (seta)"/>
          <p:cNvSpPr/>
          <p:nvPr/>
        </p:nvSpPr>
        <p:spPr>
          <a:xfrm>
            <a:off x="2560320" y="1097280"/>
            <a:ext cx="2011680" cy="731520"/>
          </a:xfrm>
          <a:prstGeom prst="chevron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Etapa 2 (título)"/>
          <p:cNvSpPr txBox="1"/>
          <p:nvPr/>
        </p:nvSpPr>
        <p:spPr>
          <a:xfrm>
            <a:off x="2834640" y="10972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2. Consolidação</a:t>
            </a:r>
            <a:endParaRPr lang="en-US" sz="1400" dirty="0"/>
          </a:p>
        </p:txBody>
      </p:sp>
      <p:sp>
        <p:nvSpPr>
          <p:cNvPr id="8" name="Etapa 2 (descrição)"/>
          <p:cNvSpPr txBox="1"/>
          <p:nvPr/>
        </p:nvSpPr>
        <p:spPr>
          <a:xfrm>
            <a:off x="2651760" y="19659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Tudo fica em um banco único, com histórico e controle de acesso</a:t>
            </a:r>
            <a:endParaRPr lang="en-US" sz="1100" dirty="0"/>
          </a:p>
        </p:txBody>
      </p:sp>
      <p:sp>
        <p:nvSpPr>
          <p:cNvPr id="9" name="Etapa 3 (seta)"/>
          <p:cNvSpPr/>
          <p:nvPr/>
        </p:nvSpPr>
        <p:spPr>
          <a:xfrm>
            <a:off x="4663440" y="1097280"/>
            <a:ext cx="2011680" cy="731520"/>
          </a:xfrm>
          <a:prstGeom prst="chevron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Etapa 3 (título)"/>
          <p:cNvSpPr txBox="1"/>
          <p:nvPr/>
        </p:nvSpPr>
        <p:spPr>
          <a:xfrm>
            <a:off x="4937760" y="10972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3. Análise</a:t>
            </a:r>
            <a:endParaRPr lang="en-US" sz="1400" dirty="0"/>
          </a:p>
        </p:txBody>
      </p:sp>
      <p:sp>
        <p:nvSpPr>
          <p:cNvPr id="11" name="Etapa 3 (descrição)"/>
          <p:cNvSpPr txBox="1"/>
          <p:nvPr/>
        </p:nvSpPr>
        <p:spPr>
          <a:xfrm>
            <a:off x="4754880" y="19659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Painéis, filtros por cidade e atividade, mapa e comparações</a:t>
            </a:r>
            <a:endParaRPr lang="en-US" sz="1100" dirty="0"/>
          </a:p>
        </p:txBody>
      </p:sp>
      <p:sp>
        <p:nvSpPr>
          <p:cNvPr id="12" name="Etapa 4 (seta)"/>
          <p:cNvSpPr/>
          <p:nvPr/>
        </p:nvSpPr>
        <p:spPr>
          <a:xfrm>
            <a:off x="6766560" y="1097280"/>
            <a:ext cx="2011680" cy="731520"/>
          </a:xfrm>
          <a:prstGeom prst="chevron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Etapa 4 (título)"/>
          <p:cNvSpPr txBox="1"/>
          <p:nvPr/>
        </p:nvSpPr>
        <p:spPr>
          <a:xfrm>
            <a:off x="7040880" y="10972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4. Entrega</a:t>
            </a:r>
            <a:endParaRPr lang="en-US" sz="1400" dirty="0"/>
          </a:p>
        </p:txBody>
      </p:sp>
      <p:sp>
        <p:nvSpPr>
          <p:cNvPr id="14" name="Etapa 4 (descrição)"/>
          <p:cNvSpPr txBox="1"/>
          <p:nvPr/>
        </p:nvSpPr>
        <p:spPr>
          <a:xfrm>
            <a:off x="6858000" y="19659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Relatórios PDF, exportações e acesso direto da diretoria</a:t>
            </a:r>
            <a:endParaRPr lang="en-US" sz="1100" dirty="0"/>
          </a:p>
        </p:txBody>
      </p:sp>
      <p:sp>
        <p:nvSpPr>
          <p:cNvPr id="15" name="Antes (cartão)"/>
          <p:cNvSpPr/>
          <p:nvPr/>
        </p:nvSpPr>
        <p:spPr>
          <a:xfrm>
            <a:off x="457200" y="2834640"/>
            <a:ext cx="40233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F1E3D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Antes (título)"/>
          <p:cNvSpPr txBox="1"/>
          <p:nvPr/>
        </p:nvSpPr>
        <p:spPr>
          <a:xfrm>
            <a:off x="64008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Antes</a:t>
            </a:r>
            <a:endParaRPr lang="en-US" sz="1400" dirty="0"/>
          </a:p>
        </p:txBody>
      </p:sp>
      <p:sp>
        <p:nvSpPr>
          <p:cNvPr id="17" name="Antes (lista)"/>
          <p:cNvSpPr txBox="1"/>
          <p:nvPr/>
        </p:nvSpPr>
        <p:spPr>
          <a:xfrm>
            <a:off x="640080" y="3337560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Relatório diário montado à mão: ~2 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CAGED do mês consolidado em planilha: ~5 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Notícias pesquisadas uma a uma, várias vezes ao dia</a:t>
            </a:r>
            <a:endParaRPr lang="en-US" sz="1200" dirty="0"/>
          </a:p>
        </p:txBody>
      </p:sp>
      <p:sp>
        <p:nvSpPr>
          <p:cNvPr id="18" name="Depois (cartão)"/>
          <p:cNvSpPr/>
          <p:nvPr/>
        </p:nvSpPr>
        <p:spPr>
          <a:xfrm>
            <a:off x="4663440" y="2834640"/>
            <a:ext cx="40233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F1E3D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Depois (título)"/>
          <p:cNvSpPr txBox="1"/>
          <p:nvPr/>
        </p:nvSpPr>
        <p:spPr>
          <a:xfrm>
            <a:off x="484632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Com o CDLoad</a:t>
            </a:r>
            <a:endParaRPr lang="en-US" sz="1400" dirty="0"/>
          </a:p>
        </p:txBody>
      </p:sp>
      <p:sp>
        <p:nvSpPr>
          <p:cNvPr id="20" name="Depois (lista)"/>
          <p:cNvSpPr txBox="1"/>
          <p:nvPr/>
        </p:nvSpPr>
        <p:spPr>
          <a:xfrm>
            <a:off x="4846320" y="3337560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Relatório gerado em minutos, com o layout oficial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CAGED e demais fontes já atualizados ao abrir o painel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Clipping automático, comparando as entidades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</a:rPr>
              <a:t>Impacto quantitativo: 785 horas por ano devolvidas</a:t>
            </a:r>
            <a:endParaRPr lang="en-US" sz="2200" dirty="0"/>
          </a:p>
        </p:txBody>
      </p:sp>
      <p:graphicFrame>
        <p:nvGraphicFramePr>
          <p:cNvPr id="3" name="Gráfico horas por módulo"/>
          <p:cNvGraphicFramePr/>
          <p:nvPr/>
        </p:nvGraphicFramePr>
        <p:xfrm>
          <a:off x="457200" y="1051560"/>
          <a:ext cx="49377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Métrica 1 (cartão)"/>
          <p:cNvSpPr/>
          <p:nvPr/>
        </p:nvSpPr>
        <p:spPr>
          <a:xfrm>
            <a:off x="5669280" y="1097280"/>
            <a:ext cx="30175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F1E3D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Métrica 1 (valor)"/>
          <p:cNvSpPr txBox="1"/>
          <p:nvPr/>
        </p:nvSpPr>
        <p:spPr>
          <a:xfrm>
            <a:off x="5852160" y="11887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65,4 h</a:t>
            </a:r>
            <a:endParaRPr lang="en-US" sz="2800" dirty="0"/>
          </a:p>
        </p:txBody>
      </p:sp>
      <p:sp>
        <p:nvSpPr>
          <p:cNvPr id="6" name="Métrica 1 (rótulo)"/>
          <p:cNvSpPr txBox="1"/>
          <p:nvPr/>
        </p:nvSpPr>
        <p:spPr>
          <a:xfrm>
            <a:off x="5852160" y="170078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por mês (≈ 785 h/ano)</a:t>
            </a:r>
            <a:endParaRPr lang="en-US" sz="1200" dirty="0"/>
          </a:p>
        </p:txBody>
      </p:sp>
      <p:sp>
        <p:nvSpPr>
          <p:cNvPr id="7" name="Métrica 2 (cartão)"/>
          <p:cNvSpPr/>
          <p:nvPr/>
        </p:nvSpPr>
        <p:spPr>
          <a:xfrm>
            <a:off x="5669280" y="2258568"/>
            <a:ext cx="30175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F1E3D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Métrica 2 (valor)"/>
          <p:cNvSpPr txBox="1"/>
          <p:nvPr/>
        </p:nvSpPr>
        <p:spPr>
          <a:xfrm>
            <a:off x="5852160" y="235000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R$ 5,57</a:t>
            </a:r>
            <a:endParaRPr lang="en-US" sz="2800" dirty="0"/>
          </a:p>
        </p:txBody>
      </p:sp>
      <p:sp>
        <p:nvSpPr>
          <p:cNvPr id="9" name="Métrica 2 (rótulo)"/>
          <p:cNvSpPr txBox="1"/>
          <p:nvPr/>
        </p:nvSpPr>
        <p:spPr>
          <a:xfrm>
            <a:off x="5852160" y="286207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custo por hora devolvida</a:t>
            </a:r>
            <a:endParaRPr lang="en-US" sz="1200" dirty="0"/>
          </a:p>
        </p:txBody>
      </p:sp>
      <p:sp>
        <p:nvSpPr>
          <p:cNvPr id="10" name="Métrica 3 (cartão)"/>
          <p:cNvSpPr/>
          <p:nvPr/>
        </p:nvSpPr>
        <p:spPr>
          <a:xfrm>
            <a:off x="5669280" y="3419856"/>
            <a:ext cx="30175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F1E3D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Métrica 3 (valor)"/>
          <p:cNvSpPr txBox="1"/>
          <p:nvPr/>
        </p:nvSpPr>
        <p:spPr>
          <a:xfrm>
            <a:off x="5852160" y="351129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R$ 4,4 mil</a:t>
            </a:r>
            <a:endParaRPr lang="en-US" sz="2800" dirty="0"/>
          </a:p>
        </p:txBody>
      </p:sp>
      <p:sp>
        <p:nvSpPr>
          <p:cNvPr id="12" name="Métrica 3 (rótulo)"/>
          <p:cNvSpPr txBox="1"/>
          <p:nvPr/>
        </p:nvSpPr>
        <p:spPr>
          <a:xfrm>
            <a:off x="5852160" y="40233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custo anual das ferramentas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</a:rPr>
              <a:t>Viabilidade: o custo se paga com 4 planos</a:t>
            </a:r>
            <a:endParaRPr lang="en-US" sz="2200" dirty="0"/>
          </a:p>
        </p:txBody>
      </p:sp>
      <p:graphicFrame>
        <p:nvGraphicFramePr>
          <p:cNvPr id="10" name="Tabela de cust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206240" cy="268833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Ferramenta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Plano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Custo anual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Power BI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Licença por usuário (1)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R$ 1.310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Claude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Pro · mensal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R$ 1.320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Survey Monkey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Individual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R$ 1.200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Canva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Pro · mensal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R$ 420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GisMaps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Individual · anual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R$ 120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R$ 4.370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Gráfico ponto de equilíbrio"/>
          <p:cNvGraphicFramePr/>
          <p:nvPr/>
        </p:nvGraphicFramePr>
        <p:xfrm>
          <a:off x="4937760" y="1051560"/>
          <a:ext cx="374904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Ponto de equilíbrio (texto)"/>
          <p:cNvSpPr txBox="1"/>
          <p:nvPr/>
        </p:nvSpPr>
        <p:spPr>
          <a:xfrm>
            <a:off x="4937760" y="40233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Plano de consultoria: R$ 120/mês por CDL atendida. A partir de 4 planos, a captação (R$ 5.760/ano) supera o custo das ferramentas.</a:t>
            </a:r>
            <a:endParaRPr lang="en-US" sz="1100" dirty="0"/>
          </a:p>
        </p:txBody>
      </p:sp>
      <p:sp>
        <p:nvSpPr>
          <p:cNvPr id="6" name="Infraestrutura (observação)"/>
          <p:cNvSpPr txBox="1"/>
          <p:nvPr/>
        </p:nvSpPr>
        <p:spPr>
          <a:xfrm>
            <a:off x="457200" y="4023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Infraestrutura (hospedagem e banco): planos atuais, sem custo adicional informado — confirmar antes da apresentação.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DLoad Executivo">
  <a:themeElements>
    <a:clrScheme name="CDLoad Executivo">
      <a:dk1>
        <a:srgbClr val="0F1E3D"/>
      </a:dk1>
      <a:lt1>
        <a:srgbClr val="FFFFFF"/>
      </a:lt1>
      <a:dk2>
        <a:srgbClr val="0B2447"/>
      </a:dk2>
      <a:lt2>
        <a:srgbClr val="EEF3FA"/>
      </a:lt2>
      <a:accent1>
        <a:srgbClr val="1D5FD3"/>
      </a:accent1>
      <a:accent2>
        <a:srgbClr val="5DB14E"/>
      </a:accent2>
      <a:accent3>
        <a:srgbClr val="A7C7F4"/>
      </a:accent3>
      <a:accent4>
        <a:srgbClr val="F2A93B"/>
      </a:accent4>
      <a:accent5>
        <a:srgbClr val="E5484D"/>
      </a:accent5>
      <a:accent6>
        <a:srgbClr val="64748B"/>
      </a:accent6>
      <a:hlink>
        <a:srgbClr val="1D5FD3"/>
      </a:hlink>
      <a:folHlink>
        <a:srgbClr val="0B2447"/>
      </a:folHlink>
    </a:clrScheme>
    <a:fontScheme name="CDLoad Executiv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1524</Words>
  <Application>Microsoft Office PowerPoint</Application>
  <PresentationFormat>Apresentação na tela (16:9)</PresentationFormat>
  <Paragraphs>199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Calibri</vt:lpstr>
      <vt:lpstr>CDLoad Executivo</vt:lpstr>
      <vt:lpstr>CDLoad: toda a inteligência da CDL em uma única plataforma</vt:lpstr>
      <vt:lpstr>O cenário atual: dados espalhados e trabalho manual</vt:lpstr>
      <vt:lpstr>A solução: CDLoad, a plataforma interna de dados</vt:lpstr>
      <vt:lpstr>Impacto qualitativo: cultura, segurança e escala</vt:lpstr>
      <vt:lpstr>Plano de implementação e cronograma</vt:lpstr>
      <vt:lpstr>Módulos e ferramentas principais</vt:lpstr>
      <vt:lpstr>Fluxo de trabalho: do dado bruto à decisão</vt:lpstr>
      <vt:lpstr>Impacto quantitativo: 785 horas por ano devolvidas</vt:lpstr>
      <vt:lpstr>Viabilidade: o custo se paga com 4 planos</vt:lpstr>
    </vt:vector>
  </TitlesOfParts>
  <Company>CDL Cuiabá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CDLoad — Plataforma de Inteligência: proposta de adoção</dc:title>
  <dc:subject>PptxGenJS Presentation</dc:subject>
  <dc:creator>Núcleo de Inteligência · CDL Cuiabá</dc:creator>
  <cp:lastModifiedBy>Matheus Costa</cp:lastModifiedBy>
  <cp:revision>1</cp:revision>
  <dcterms:created xsi:type="dcterms:W3CDTF">2026-10-12T22:52:34Z</dcterms:created>
  <dcterms:modified xsi:type="dcterms:W3CDTF">2026-10-14T12:20:10Z</dcterms:modified>
</cp:coreProperties>
</file>